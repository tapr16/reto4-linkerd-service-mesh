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fedf120a-d522-feda-916d-28ac2723bc67}">
          <p14:sldIdLst>
            <p14:sldId id="256"/>
            <p14:sldId id="257"/>
          </p14:sldIdLst>
        </p14:section>
        <p14:section name="Contexto" id="{3a9af1df-a7f5-83e6-9daa-18fb79002dfb}">
          <p14:sldIdLst>
            <p14:sldId id="258"/>
            <p14:sldId id="259"/>
            <p14:sldId id="260"/>
          </p14:sldIdLst>
        </p14:section>
        <p14:section name="Service Mesh" id="{a1422168-a048-d1e9-7997-77b6f263666f}">
          <p14:sldIdLst>
            <p14:sldId id="261"/>
            <p14:sldId id="262"/>
            <p14:sldId id="263"/>
            <p14:sldId id="264"/>
          </p14:sldIdLst>
        </p14:section>
        <p14:section name="Arquitectura" id="{ad1bebbc-0161-6cec-ec07-b9559902cc5d}">
          <p14:sldIdLst>
            <p14:sldId id="265"/>
            <p14:sldId id="266"/>
            <p14:sldId id="267"/>
          </p14:sldIdLst>
        </p14:section>
        <p14:section name="Implementación" id="{f743a5ba-465b-e8d9-611d-54332392d0b6}">
          <p14:sldIdLst>
            <p14:sldId id="268"/>
            <p14:sldId id="269"/>
            <p14:sldId id="270"/>
            <p14:sldId id="271"/>
            <p14:sldId id="272"/>
          </p14:sldIdLst>
        </p14:section>
        <p14:section name="Pruebas" id="{3c6a749e-09ec-111b-0ca8-b7128a616fe7}">
          <p14:sldIdLst>
            <p14:sldId id="273"/>
            <p14:sldId id="274"/>
            <p14:sldId id="275"/>
            <p14:sldId id="276"/>
          </p14:sldIdLst>
        </p14:section>
        <p14:section name="Observabilidad" id="{59539ca4-6358-5e4b-5f6a-a02b772c5d99}">
          <p14:sldIdLst>
            <p14:sldId id="277"/>
            <p14:sldId id="278"/>
            <p14:sldId id="279"/>
            <p14:sldId id="280"/>
          </p14:sldIdLst>
        </p14:section>
        <p14:section name="Cierre" id="{f806b056-78c0-f29f-6ea5-1c57cc5cee62}">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Reto 4: usar un Service Mesh, en nuestro caso Linkerd, para decidir a qué versión de una aplicación va cada petición según una cabecera HTTP, sin tocar el código de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microservicios queremos hacer pruebas A/B, canaries o feature flags. El reto pide que una cabecera HTTP decida la versión: con X-Feature-Flag new-version o User-Agent experimental se va a v2, y todo lo demás a v1. La condición clave es no tocar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Linkerd tiene un plano de control y un plano de datos. El proxy-injector agrega a cada pod un linkerd-proxy escrito en Rust. Ese proxy intercepta todo el tráfico: en la salida aplica las rutas que le da destination, y entre proxies todo viaja con mTLS usando los certificados de identity. La app no se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enunciado menciona TrafficSplit y ServiceProfile, pero en Linkerd actual SMI está deprecado. Su reemplazo es HTTPRoute de Gateway API en modo GAMMA, donde la ruta cuelga de un Service. Además TrafficSplit solo repartía por pesos; HTTPRoute permite condiciones por cabecera, que es justo lo que pide el 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fue el hallazgo más importante. En Linkerd la decisión de ruteo la toma el proxy del cliente. Si llamamos al servicio desde fuera de la malla, nadie aplica la regla y siempre responde v1. Por eso el punto de entrada es un nginx mallado.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vive en el namespace reto4, que tiene la inyección automática activada. Desde el PC entramos por el puerto 8080 al gateway. El gateway pide el Service web y su proxy aplica el HTTPRoute: con la cabecera va a web-v2, sin ella a web-v1.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Automatizamos todo con scripts bash. Primero el clúster kind, luego las CRDs de Gateway API, Linkerd y su extensión viz. Después construimos la imagen dos veces, la cargamos en kind y aplicamos los manifiestos. Finalmente aplicamos la ruta y corremos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pieza central. La ruta cuelga del Service web. La primera regla tiene dos matches que funcionan como OR: si llega x-feature-flag new-version o user-agent experimental, va a web-v2. La segunda regla no tiene condición, así que atrapa todo lo demás y lo manda a web-v1. El policy-controller de Linkerd la aceptó con Accepted y ResolvedRefs en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corrimos las pruebas sin la ruta: aunque mandemos la cabecera, todo va a v1. Después aplicamos el HTTPRoute y con las mismas peticiones la cabecera ya lleva el tráfico a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podemos hacer la demo en vivo. La respuesta trae la cabecera x-app-version y el JSON dice qué pod respondió, así se ve claramente que fue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tráfico mezclado mitad con cabecera y mitad sin ella, stat-outbound muestra la ruta web-por-cabecera repartiendo 50/50 entre v1 y v2. Tap confirma que a v2 llegan peticiones dirigidas al servicio web, todas con TLS. Y edges confirma que todas las conexiones están aseguradas con mTLS.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Hicimos dos experimentos extra. Un canary 90/10: el tráfico sin cabecera se reparte 90 por ciento a v1 y 10 a v2, y con cabecera siempre v2. Y una prueba fuera de la malla que confirma que la regla solo se aplica en el proxy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balanceador L4 no entiende HTTP. Un Ingress sí, pero solo en la entrada: si el servicio A llama al B, el Ingress no interviene. El Service Mesh aplica reglas en cada llamada, también entre servicios internos, con mTLS y métricas. El costo es un proxy por pod; Linkerd lo minimiza porque su proxy es muy liviano.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017520"/>
            <a:ext cx="8046720" cy="731520"/>
          </a:xfrm>
          <a:prstGeom prst="rect">
            <a:avLst/>
          </a:prstGeom>
          <a:noFill/>
          <a:ln/>
        </p:spPr>
        <p:txBody>
          <a:bodyPr wrap="square" rtlCol="0"/>
          <a:lstStyle>
            <a:lvl1pPr indent="0" marL="0">
              <a:buNone/>
              <a:defRPr lang="en-US" sz="1600" dirty="0">
                <a:solidFill>
                  <a:srgbClr val="7FE3D9"/>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3" name="Text 0"/>
          <p:cNvSpPr/>
          <p:nvPr>
            <p:ph idx="101" type="body" hasCustomPrompt="1"/>
          </p:nvPr>
        </p:nvSpPr>
        <p:spPr>
          <a:xfrm>
            <a:off x="457200" y="1280160"/>
            <a:ext cx="8229600" cy="3383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C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737360"/>
          </a:xfrm>
          <a:prstGeom prst="rect">
            <a:avLst/>
          </a:prstGeom>
          <a:noFill/>
          <a:ln/>
        </p:spPr>
        <p:txBody>
          <a:bodyPr wrap="square" lIns="0" tIns="0" rIns="0" bIns="0" rtlCol="0" anchor="b"/>
          <a:lstStyle/>
          <a:p>
            <a:pPr algn="l" indent="0" marL="0">
              <a:buNone/>
            </a:pPr>
            <a:r>
              <a:rPr lang="en-US" sz="3400" b="1" dirty="0">
                <a:solidFill>
                  <a:schemeClr val="bg1"/>
                </a:solidFill>
              </a:rPr>
              <a:t>Enrutamiento inteligente</a:t>
            </a:r>
            <a:endParaRPr lang="en-US" sz="3400" dirty="0"/>
          </a:p>
          <a:p>
            <a:pPr algn="l" indent="0" marL="0">
              <a:buNone/>
            </a:pPr>
            <a:r>
              <a:rPr lang="en-US" sz="3400" b="1" dirty="0">
                <a:solidFill>
                  <a:schemeClr val="bg1"/>
                </a:solidFill>
              </a:rPr>
              <a:t>con Service Mesh</a:t>
            </a:r>
            <a:endParaRPr lang="en-US" sz="3400" dirty="0"/>
          </a:p>
        </p:txBody>
      </p:sp>
      <p:sp>
        <p:nvSpPr>
          <p:cNvPr id="3" name="Text 0"/>
          <p:cNvSpPr/>
          <p:nvPr>
            <p:ph idx="101" type="body" hasCustomPrompt="1"/>
          </p:nvPr>
        </p:nvSpPr>
        <p:spPr>
          <a:xfrm>
            <a:off x="548640" y="3017520"/>
            <a:ext cx="8046720" cy="731520"/>
          </a:xfrm>
          <a:prstGeom prst="rect">
            <a:avLst/>
          </a:prstGeom>
          <a:noFill/>
          <a:ln/>
        </p:spPr>
        <p:txBody>
          <a:bodyPr wrap="square" lIns="0" tIns="0" rIns="0" bIns="0" rtlCol="0" anchor="t"/>
          <a:lstStyle/>
          <a:p>
            <a:pPr indent="0" marL="0">
              <a:buNone/>
            </a:pPr>
            <a:r>
              <a:rPr lang="en-US" sz="1600" dirty="0">
                <a:solidFill>
                  <a:srgbClr val="7FE3D9"/>
                </a:solidFill>
              </a:rPr>
              <a:t>Ruteo por cabeceras HTTP con Linkerd sobre Kubernetes · Reto 4</a:t>
            </a:r>
            <a:endParaRPr lang="en-US" sz="1600" dirty="0"/>
          </a:p>
        </p:txBody>
      </p:sp>
      <p:sp>
        <p:nvSpPr>
          <p:cNvPr id="4" name="chip-tecnologia"/>
          <p:cNvSpPr/>
          <p:nvPr/>
        </p:nvSpPr>
        <p:spPr>
          <a:xfrm>
            <a:off x="548640" y="4069080"/>
            <a:ext cx="1097280" cy="365760"/>
          </a:xfrm>
          <a:prstGeom prst="roundRect">
            <a:avLst>
              <a:gd name="adj" fmla="val 25000"/>
            </a:avLst>
          </a:prstGeom>
          <a:solidFill>
            <a:srgbClr val="326CE5"/>
          </a:solidFill>
          <a:ln/>
        </p:spPr>
      </p:sp>
      <p:sp>
        <p:nvSpPr>
          <p:cNvPr id="5" name="Text 3"/>
          <p:cNvSpPr txBox="1"/>
          <p:nvPr/>
        </p:nvSpPr>
        <p:spPr>
          <a:xfrm>
            <a:off x="548640" y="406908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Kubernetes</a:t>
            </a:r>
            <a:endParaRPr lang="en-US" sz="1200" dirty="0"/>
          </a:p>
        </p:txBody>
      </p:sp>
      <p:sp>
        <p:nvSpPr>
          <p:cNvPr id="6" name="chip-tecnologia"/>
          <p:cNvSpPr/>
          <p:nvPr/>
        </p:nvSpPr>
        <p:spPr>
          <a:xfrm>
            <a:off x="1783080" y="4069080"/>
            <a:ext cx="1097280" cy="365760"/>
          </a:xfrm>
          <a:prstGeom prst="roundRect">
            <a:avLst>
              <a:gd name="adj" fmla="val 25000"/>
            </a:avLst>
          </a:prstGeom>
          <a:solidFill>
            <a:srgbClr val="0B8A8F"/>
          </a:solidFill>
          <a:ln/>
        </p:spPr>
      </p:sp>
      <p:sp>
        <p:nvSpPr>
          <p:cNvPr id="7" name="Text 5"/>
          <p:cNvSpPr txBox="1"/>
          <p:nvPr/>
        </p:nvSpPr>
        <p:spPr>
          <a:xfrm>
            <a:off x="1783080" y="406908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Linkerd</a:t>
            </a:r>
            <a:endParaRPr lang="en-US" sz="1200" dirty="0"/>
          </a:p>
        </p:txBody>
      </p:sp>
      <p:sp>
        <p:nvSpPr>
          <p:cNvPr id="8" name="chip-tecnologia"/>
          <p:cNvSpPr/>
          <p:nvPr/>
        </p:nvSpPr>
        <p:spPr>
          <a:xfrm>
            <a:off x="3017520" y="4069080"/>
            <a:ext cx="1097280" cy="365760"/>
          </a:xfrm>
          <a:prstGeom prst="roundRect">
            <a:avLst>
              <a:gd name="adj" fmla="val 25000"/>
            </a:avLst>
          </a:prstGeom>
          <a:solidFill>
            <a:srgbClr val="7C3AED"/>
          </a:solidFill>
          <a:ln/>
        </p:spPr>
      </p:sp>
      <p:sp>
        <p:nvSpPr>
          <p:cNvPr id="9" name="Text 7"/>
          <p:cNvSpPr txBox="1"/>
          <p:nvPr/>
        </p:nvSpPr>
        <p:spPr>
          <a:xfrm>
            <a:off x="3017520" y="406908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Gateway API</a:t>
            </a:r>
            <a:endParaRPr lang="en-US" sz="1200" dirty="0"/>
          </a:p>
        </p:txBody>
      </p:sp>
      <p:sp>
        <p:nvSpPr>
          <p:cNvPr id="10" name="chip-tecnologia"/>
          <p:cNvSpPr/>
          <p:nvPr/>
        </p:nvSpPr>
        <p:spPr>
          <a:xfrm>
            <a:off x="4251960" y="4069080"/>
            <a:ext cx="1097280" cy="365760"/>
          </a:xfrm>
          <a:prstGeom prst="roundRect">
            <a:avLst>
              <a:gd name="adj" fmla="val 25000"/>
            </a:avLst>
          </a:prstGeom>
          <a:solidFill>
            <a:srgbClr val="5B6675"/>
          </a:solidFill>
          <a:ln/>
        </p:spPr>
      </p:sp>
      <p:sp>
        <p:nvSpPr>
          <p:cNvPr id="11" name="Text 9"/>
          <p:cNvSpPr txBox="1"/>
          <p:nvPr/>
        </p:nvSpPr>
        <p:spPr>
          <a:xfrm>
            <a:off x="4251960" y="406908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kind</a:t>
            </a:r>
            <a:endParaRPr lang="en-US" sz="1200" dirty="0"/>
          </a:p>
        </p:txBody>
      </p:sp>
      <p:sp>
        <p:nvSpPr>
          <p:cNvPr id="12" name="Text 10"/>
          <p:cNvSpPr txBox="1"/>
          <p:nvPr/>
        </p:nvSpPr>
        <p:spPr>
          <a:xfrm>
            <a:off x="548640" y="457200"/>
            <a:ext cx="8046720" cy="365760"/>
          </a:xfrm>
          <a:prstGeom prst="rect">
            <a:avLst/>
          </a:prstGeom>
          <a:noFill/>
          <a:ln/>
        </p:spPr>
        <p:txBody>
          <a:bodyPr wrap="square" lIns="0" tIns="0" rIns="0" bIns="0" rtlCol="0" anchor="t"/>
          <a:lstStyle/>
          <a:p>
            <a:pPr indent="0" marL="0">
              <a:buNone/>
            </a:pPr>
            <a:r>
              <a:rPr lang="en-US" sz="1300" dirty="0">
                <a:solidFill>
                  <a:srgbClr val="AAB4C3"/>
                </a:solidFill>
              </a:rPr>
              <a:t>Principios de Arquitectura de Software · Retos Software III</a:t>
            </a:r>
            <a:endParaRPr lang="en-US" sz="1300" dirty="0"/>
          </a:p>
        </p:txBody>
      </p:sp>
      <p:sp>
        <p:nvSpPr>
          <p:cNvPr id="13" name="integrantes"/>
          <p:cNvSpPr txBox="1"/>
          <p:nvPr/>
        </p:nvSpPr>
        <p:spPr>
          <a:xfrm>
            <a:off x="5120640" y="3840480"/>
            <a:ext cx="3566160" cy="822960"/>
          </a:xfrm>
          <a:prstGeom prst="rect">
            <a:avLst/>
          </a:prstGeom>
          <a:noFill/>
          <a:ln/>
        </p:spPr>
        <p:txBody>
          <a:bodyPr wrap="square" lIns="0" tIns="0" rIns="0" bIns="0" rtlCol="0" anchor="b"/>
          <a:lstStyle/>
          <a:p>
            <a:pPr algn="r" indent="0" marL="0">
              <a:buNone/>
            </a:pPr>
            <a:r>
              <a:rPr lang="en-US" sz="1200" dirty="0">
                <a:solidFill>
                  <a:srgbClr val="D5DAE1"/>
                </a:solidFill>
              </a:rPr>
              <a:t>David Esteban Suarez Lozano · 2221909</a:t>
            </a:r>
            <a:endParaRPr lang="en-US" sz="1200" dirty="0"/>
          </a:p>
          <a:p>
            <a:pPr algn="r" indent="0" marL="0">
              <a:buNone/>
            </a:pPr>
            <a:r>
              <a:rPr lang="en-US" sz="1200" dirty="0">
                <a:solidFill>
                  <a:srgbClr val="D5DAE1"/>
                </a:solidFill>
              </a:rPr>
              <a:t>Thomas Alejandro Perez Rojas · 2221906</a:t>
            </a:r>
            <a:endParaRPr lang="en-US" sz="1200" dirty="0"/>
          </a:p>
          <a:p>
            <a:pPr algn="r" indent="0" marL="0">
              <a:buNone/>
            </a:pPr>
            <a:r>
              <a:rPr lang="en-US" sz="1200" dirty="0">
                <a:solidFill>
                  <a:srgbClr val="D5DAE1"/>
                </a:solidFill>
              </a:rPr>
              <a:t>Jesus David Santodomingo Carrascal · 2221922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Agenda</a:t>
            </a:r>
            <a:endParaRPr lang="en-US" sz="2800" dirty="0"/>
          </a:p>
        </p:txBody>
      </p:sp>
      <p:sp>
        <p:nvSpPr>
          <p:cNvPr id="3" name="tarjeta"/>
          <p:cNvSpPr/>
          <p:nvPr/>
        </p:nvSpPr>
        <p:spPr>
          <a:xfrm>
            <a:off x="457200" y="1234440"/>
            <a:ext cx="2606040" cy="1417320"/>
          </a:xfrm>
          <a:prstGeom prst="roundRect">
            <a:avLst>
              <a:gd name="adj" fmla="val 6452"/>
            </a:avLst>
          </a:prstGeom>
          <a:solidFill>
            <a:srgbClr val="F3F5F8"/>
          </a:solidFill>
          <a:ln/>
          <a:effectLst>
            <a:outerShdw sx="100000" sy="100000" kx="0" ky="0" algn="bl" rotWithShape="0" blurRad="76200" dist="25400" dir="5400000">
              <a:srgbClr val="000000">
                <a:alpha val="12000"/>
              </a:srgbClr>
            </a:outerShdw>
          </a:effectLst>
        </p:spPr>
      </p:sp>
      <p:sp>
        <p:nvSpPr>
          <p:cNvPr id="4" name="numero"/>
          <p:cNvSpPr/>
          <p:nvPr/>
        </p:nvSpPr>
        <p:spPr>
          <a:xfrm>
            <a:off x="640080" y="1435608"/>
            <a:ext cx="384048" cy="384048"/>
          </a:xfrm>
          <a:prstGeom prst="ellipse">
            <a:avLst/>
          </a:prstGeom>
          <a:solidFill>
            <a:schemeClr val="accent1"/>
          </a:solidFill>
          <a:ln/>
        </p:spPr>
      </p:sp>
      <p:sp>
        <p:nvSpPr>
          <p:cNvPr id="5" name="Text 3"/>
          <p:cNvSpPr txBox="1"/>
          <p:nvPr/>
        </p:nvSpPr>
        <p:spPr>
          <a:xfrm>
            <a:off x="640080" y="14356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43000" y="1417320"/>
            <a:ext cx="1828800" cy="411480"/>
          </a:xfrm>
          <a:prstGeom prst="rect">
            <a:avLst/>
          </a:prstGeom>
          <a:noFill/>
          <a:ln/>
        </p:spPr>
        <p:txBody>
          <a:bodyPr wrap="square" lIns="0" tIns="0" rIns="0" bIns="0" rtlCol="0" anchor="ctr"/>
          <a:lstStyle/>
          <a:p>
            <a:pPr indent="0" marL="0">
              <a:buNone/>
            </a:pPr>
            <a:r>
              <a:rPr lang="en-US" sz="1700" b="1" dirty="0">
                <a:solidFill>
                  <a:schemeClr val="tx1"/>
                </a:solidFill>
              </a:rPr>
              <a:t>Contexto</a:t>
            </a:r>
            <a:endParaRPr lang="en-US" sz="1700" dirty="0"/>
          </a:p>
        </p:txBody>
      </p:sp>
      <p:sp>
        <p:nvSpPr>
          <p:cNvPr id="7" name="Text 5"/>
          <p:cNvSpPr txBox="1"/>
          <p:nvPr/>
        </p:nvSpPr>
        <p:spPr>
          <a:xfrm>
            <a:off x="640080" y="1965960"/>
            <a:ext cx="2286000" cy="548640"/>
          </a:xfrm>
          <a:prstGeom prst="rect">
            <a:avLst/>
          </a:prstGeom>
          <a:noFill/>
          <a:ln/>
        </p:spPr>
        <p:txBody>
          <a:bodyPr wrap="square" lIns="0" tIns="0" rIns="0" bIns="0" rtlCol="0" anchor="t"/>
          <a:lstStyle/>
          <a:p>
            <a:pPr indent="0" marL="0">
              <a:buNone/>
            </a:pPr>
            <a:r>
              <a:rPr lang="en-US" sz="1300" dirty="0">
                <a:solidFill>
                  <a:srgbClr val="5B6675"/>
                </a:solidFill>
              </a:rPr>
              <a:t>El problema y lo que pide el reto</a:t>
            </a:r>
            <a:endParaRPr lang="en-US" sz="1300" dirty="0"/>
          </a:p>
        </p:txBody>
      </p:sp>
      <p:sp>
        <p:nvSpPr>
          <p:cNvPr id="8" name="tarjeta"/>
          <p:cNvSpPr/>
          <p:nvPr/>
        </p:nvSpPr>
        <p:spPr>
          <a:xfrm>
            <a:off x="3246120" y="1234440"/>
            <a:ext cx="2606040" cy="1417320"/>
          </a:xfrm>
          <a:prstGeom prst="roundRect">
            <a:avLst>
              <a:gd name="adj" fmla="val 6452"/>
            </a:avLst>
          </a:prstGeom>
          <a:solidFill>
            <a:srgbClr val="F3F5F8"/>
          </a:solidFill>
          <a:ln/>
          <a:effectLst>
            <a:outerShdw sx="100000" sy="100000" kx="0" ky="0" algn="bl" rotWithShape="0" blurRad="76200" dist="25400" dir="5400000">
              <a:srgbClr val="000000">
                <a:alpha val="12000"/>
              </a:srgbClr>
            </a:outerShdw>
          </a:effectLst>
        </p:spPr>
      </p:sp>
      <p:sp>
        <p:nvSpPr>
          <p:cNvPr id="9" name="numero"/>
          <p:cNvSpPr/>
          <p:nvPr/>
        </p:nvSpPr>
        <p:spPr>
          <a:xfrm>
            <a:off x="3429000" y="1435608"/>
            <a:ext cx="384048" cy="384048"/>
          </a:xfrm>
          <a:prstGeom prst="ellipse">
            <a:avLst/>
          </a:prstGeom>
          <a:solidFill>
            <a:schemeClr val="accent1"/>
          </a:solidFill>
          <a:ln/>
        </p:spPr>
      </p:sp>
      <p:sp>
        <p:nvSpPr>
          <p:cNvPr id="10" name="Text 8"/>
          <p:cNvSpPr txBox="1"/>
          <p:nvPr/>
        </p:nvSpPr>
        <p:spPr>
          <a:xfrm>
            <a:off x="3429000" y="14356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3931920" y="1417320"/>
            <a:ext cx="1828800" cy="411480"/>
          </a:xfrm>
          <a:prstGeom prst="rect">
            <a:avLst/>
          </a:prstGeom>
          <a:noFill/>
          <a:ln/>
        </p:spPr>
        <p:txBody>
          <a:bodyPr wrap="square" lIns="0" tIns="0" rIns="0" bIns="0" rtlCol="0" anchor="ctr"/>
          <a:lstStyle/>
          <a:p>
            <a:pPr indent="0" marL="0">
              <a:buNone/>
            </a:pPr>
            <a:r>
              <a:rPr lang="en-US" sz="1700" b="1" dirty="0">
                <a:solidFill>
                  <a:schemeClr val="tx1"/>
                </a:solidFill>
              </a:rPr>
              <a:t>Service Mesh</a:t>
            </a:r>
            <a:endParaRPr lang="en-US" sz="1700" dirty="0"/>
          </a:p>
        </p:txBody>
      </p:sp>
      <p:sp>
        <p:nvSpPr>
          <p:cNvPr id="12" name="Text 10"/>
          <p:cNvSpPr txBox="1"/>
          <p:nvPr/>
        </p:nvSpPr>
        <p:spPr>
          <a:xfrm>
            <a:off x="3429000" y="1965960"/>
            <a:ext cx="2286000" cy="548640"/>
          </a:xfrm>
          <a:prstGeom prst="rect">
            <a:avLst/>
          </a:prstGeom>
          <a:noFill/>
          <a:ln/>
        </p:spPr>
        <p:txBody>
          <a:bodyPr wrap="square" lIns="0" tIns="0" rIns="0" bIns="0" rtlCol="0" anchor="t"/>
          <a:lstStyle/>
          <a:p>
            <a:pPr indent="0" marL="0">
              <a:buNone/>
            </a:pPr>
            <a:r>
              <a:rPr lang="en-US" sz="1300" dirty="0">
                <a:solidFill>
                  <a:srgbClr val="5B6675"/>
                </a:solidFill>
              </a:rPr>
              <a:t>Cómo funciona Linkerd y por qué HTTPRoute</a:t>
            </a:r>
            <a:endParaRPr lang="en-US" sz="1300" dirty="0"/>
          </a:p>
        </p:txBody>
      </p:sp>
      <p:sp>
        <p:nvSpPr>
          <p:cNvPr id="13" name="tarjeta"/>
          <p:cNvSpPr/>
          <p:nvPr/>
        </p:nvSpPr>
        <p:spPr>
          <a:xfrm>
            <a:off x="6035040" y="1234440"/>
            <a:ext cx="2606040" cy="1417320"/>
          </a:xfrm>
          <a:prstGeom prst="roundRect">
            <a:avLst>
              <a:gd name="adj" fmla="val 6452"/>
            </a:avLst>
          </a:prstGeom>
          <a:solidFill>
            <a:srgbClr val="F3F5F8"/>
          </a:solidFill>
          <a:ln/>
          <a:effectLst>
            <a:outerShdw sx="100000" sy="100000" kx="0" ky="0" algn="bl" rotWithShape="0" blurRad="76200" dist="25400" dir="5400000">
              <a:srgbClr val="000000">
                <a:alpha val="12000"/>
              </a:srgbClr>
            </a:outerShdw>
          </a:effectLst>
        </p:spPr>
      </p:sp>
      <p:sp>
        <p:nvSpPr>
          <p:cNvPr id="14" name="numero"/>
          <p:cNvSpPr/>
          <p:nvPr/>
        </p:nvSpPr>
        <p:spPr>
          <a:xfrm>
            <a:off x="6217920" y="1435608"/>
            <a:ext cx="384048" cy="384048"/>
          </a:xfrm>
          <a:prstGeom prst="ellipse">
            <a:avLst/>
          </a:prstGeom>
          <a:solidFill>
            <a:schemeClr val="accent1"/>
          </a:solidFill>
          <a:ln/>
        </p:spPr>
      </p:sp>
      <p:sp>
        <p:nvSpPr>
          <p:cNvPr id="15" name="Text 13"/>
          <p:cNvSpPr txBox="1"/>
          <p:nvPr/>
        </p:nvSpPr>
        <p:spPr>
          <a:xfrm>
            <a:off x="6217920" y="14356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6720840" y="1417320"/>
            <a:ext cx="1828800" cy="411480"/>
          </a:xfrm>
          <a:prstGeom prst="rect">
            <a:avLst/>
          </a:prstGeom>
          <a:noFill/>
          <a:ln/>
        </p:spPr>
        <p:txBody>
          <a:bodyPr wrap="square" lIns="0" tIns="0" rIns="0" bIns="0" rtlCol="0" anchor="ctr"/>
          <a:lstStyle/>
          <a:p>
            <a:pPr indent="0" marL="0">
              <a:buNone/>
            </a:pPr>
            <a:r>
              <a:rPr lang="en-US" sz="1700" b="1" dirty="0">
                <a:solidFill>
                  <a:schemeClr val="tx1"/>
                </a:solidFill>
              </a:rPr>
              <a:t>Arquitectura</a:t>
            </a:r>
            <a:endParaRPr lang="en-US" sz="1700" dirty="0"/>
          </a:p>
        </p:txBody>
      </p:sp>
      <p:sp>
        <p:nvSpPr>
          <p:cNvPr id="17" name="Text 15"/>
          <p:cNvSpPr txBox="1"/>
          <p:nvPr/>
        </p:nvSpPr>
        <p:spPr>
          <a:xfrm>
            <a:off x="6217920" y="1965960"/>
            <a:ext cx="2286000" cy="548640"/>
          </a:xfrm>
          <a:prstGeom prst="rect">
            <a:avLst/>
          </a:prstGeom>
          <a:noFill/>
          <a:ln/>
        </p:spPr>
        <p:txBody>
          <a:bodyPr wrap="square" lIns="0" tIns="0" rIns="0" bIns="0" rtlCol="0" anchor="t"/>
          <a:lstStyle/>
          <a:p>
            <a:pPr indent="0" marL="0">
              <a:buNone/>
            </a:pPr>
            <a:r>
              <a:rPr lang="en-US" sz="1300" dirty="0">
                <a:solidFill>
                  <a:srgbClr val="5B6675"/>
                </a:solidFill>
              </a:rPr>
              <a:t>Qué desplegamos en el clúster</a:t>
            </a:r>
            <a:endParaRPr lang="en-US" sz="1300" dirty="0"/>
          </a:p>
        </p:txBody>
      </p:sp>
      <p:sp>
        <p:nvSpPr>
          <p:cNvPr id="18" name="tarjeta"/>
          <p:cNvSpPr/>
          <p:nvPr/>
        </p:nvSpPr>
        <p:spPr>
          <a:xfrm>
            <a:off x="457200" y="2926080"/>
            <a:ext cx="2606040" cy="1417320"/>
          </a:xfrm>
          <a:prstGeom prst="roundRect">
            <a:avLst>
              <a:gd name="adj" fmla="val 6452"/>
            </a:avLst>
          </a:prstGeom>
          <a:solidFill>
            <a:srgbClr val="F3F5F8"/>
          </a:solidFill>
          <a:ln/>
          <a:effectLst>
            <a:outerShdw sx="100000" sy="100000" kx="0" ky="0" algn="bl" rotWithShape="0" blurRad="76200" dist="25400" dir="5400000">
              <a:srgbClr val="000000">
                <a:alpha val="12000"/>
              </a:srgbClr>
            </a:outerShdw>
          </a:effectLst>
        </p:spPr>
      </p:sp>
      <p:sp>
        <p:nvSpPr>
          <p:cNvPr id="19" name="numero"/>
          <p:cNvSpPr/>
          <p:nvPr/>
        </p:nvSpPr>
        <p:spPr>
          <a:xfrm>
            <a:off x="640080" y="3127248"/>
            <a:ext cx="384048" cy="384048"/>
          </a:xfrm>
          <a:prstGeom prst="ellipse">
            <a:avLst/>
          </a:prstGeom>
          <a:solidFill>
            <a:schemeClr val="accent1"/>
          </a:solidFill>
          <a:ln/>
        </p:spPr>
      </p:sp>
      <p:sp>
        <p:nvSpPr>
          <p:cNvPr id="20" name="Text 18"/>
          <p:cNvSpPr txBox="1"/>
          <p:nvPr/>
        </p:nvSpPr>
        <p:spPr>
          <a:xfrm>
            <a:off x="640080" y="31272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1143000" y="3108960"/>
            <a:ext cx="1828800" cy="411480"/>
          </a:xfrm>
          <a:prstGeom prst="rect">
            <a:avLst/>
          </a:prstGeom>
          <a:noFill/>
          <a:ln/>
        </p:spPr>
        <p:txBody>
          <a:bodyPr wrap="square" lIns="0" tIns="0" rIns="0" bIns="0" rtlCol="0" anchor="ctr"/>
          <a:lstStyle/>
          <a:p>
            <a:pPr indent="0" marL="0">
              <a:buNone/>
            </a:pPr>
            <a:r>
              <a:rPr lang="en-US" sz="1700" b="1" dirty="0">
                <a:solidFill>
                  <a:schemeClr val="tx1"/>
                </a:solidFill>
              </a:rPr>
              <a:t>Implementación</a:t>
            </a:r>
            <a:endParaRPr lang="en-US" sz="1700" dirty="0"/>
          </a:p>
        </p:txBody>
      </p:sp>
      <p:sp>
        <p:nvSpPr>
          <p:cNvPr id="22" name="Text 20"/>
          <p:cNvSpPr txBox="1"/>
          <p:nvPr/>
        </p:nvSpPr>
        <p:spPr>
          <a:xfrm>
            <a:off x="640080" y="3657600"/>
            <a:ext cx="2286000" cy="548640"/>
          </a:xfrm>
          <a:prstGeom prst="rect">
            <a:avLst/>
          </a:prstGeom>
          <a:noFill/>
          <a:ln/>
        </p:spPr>
        <p:txBody>
          <a:bodyPr wrap="square" lIns="0" tIns="0" rIns="0" bIns="0" rtlCol="0" anchor="t"/>
          <a:lstStyle/>
          <a:p>
            <a:pPr indent="0" marL="0">
              <a:buNone/>
            </a:pPr>
            <a:r>
              <a:rPr lang="en-US" sz="1300" dirty="0">
                <a:solidFill>
                  <a:srgbClr val="5B6675"/>
                </a:solidFill>
              </a:rPr>
              <a:t>Scripts, app y regla de ruteo</a:t>
            </a:r>
            <a:endParaRPr lang="en-US" sz="1300" dirty="0"/>
          </a:p>
        </p:txBody>
      </p:sp>
      <p:sp>
        <p:nvSpPr>
          <p:cNvPr id="23" name="tarjeta"/>
          <p:cNvSpPr/>
          <p:nvPr/>
        </p:nvSpPr>
        <p:spPr>
          <a:xfrm>
            <a:off x="3246120" y="2926080"/>
            <a:ext cx="2606040" cy="1417320"/>
          </a:xfrm>
          <a:prstGeom prst="roundRect">
            <a:avLst>
              <a:gd name="adj" fmla="val 6452"/>
            </a:avLst>
          </a:prstGeom>
          <a:solidFill>
            <a:srgbClr val="F3F5F8"/>
          </a:solidFill>
          <a:ln/>
          <a:effectLst>
            <a:outerShdw sx="100000" sy="100000" kx="0" ky="0" algn="bl" rotWithShape="0" blurRad="76200" dist="25400" dir="5400000">
              <a:srgbClr val="000000">
                <a:alpha val="12000"/>
              </a:srgbClr>
            </a:outerShdw>
          </a:effectLst>
        </p:spPr>
      </p:sp>
      <p:sp>
        <p:nvSpPr>
          <p:cNvPr id="24" name="numero"/>
          <p:cNvSpPr/>
          <p:nvPr/>
        </p:nvSpPr>
        <p:spPr>
          <a:xfrm>
            <a:off x="3429000" y="3127248"/>
            <a:ext cx="384048" cy="384048"/>
          </a:xfrm>
          <a:prstGeom prst="ellipse">
            <a:avLst/>
          </a:prstGeom>
          <a:solidFill>
            <a:schemeClr val="accent1"/>
          </a:solidFill>
          <a:ln/>
        </p:spPr>
      </p:sp>
      <p:sp>
        <p:nvSpPr>
          <p:cNvPr id="25" name="Text 23"/>
          <p:cNvSpPr txBox="1"/>
          <p:nvPr/>
        </p:nvSpPr>
        <p:spPr>
          <a:xfrm>
            <a:off x="3429000" y="31272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3931920" y="3108960"/>
            <a:ext cx="1828800" cy="411480"/>
          </a:xfrm>
          <a:prstGeom prst="rect">
            <a:avLst/>
          </a:prstGeom>
          <a:noFill/>
          <a:ln/>
        </p:spPr>
        <p:txBody>
          <a:bodyPr wrap="square" lIns="0" tIns="0" rIns="0" bIns="0" rtlCol="0" anchor="ctr"/>
          <a:lstStyle/>
          <a:p>
            <a:pPr indent="0" marL="0">
              <a:buNone/>
            </a:pPr>
            <a:r>
              <a:rPr lang="en-US" sz="1700" b="1" dirty="0">
                <a:solidFill>
                  <a:schemeClr val="tx1"/>
                </a:solidFill>
              </a:rPr>
              <a:t>Pruebas</a:t>
            </a:r>
            <a:endParaRPr lang="en-US" sz="1700" dirty="0"/>
          </a:p>
        </p:txBody>
      </p:sp>
      <p:sp>
        <p:nvSpPr>
          <p:cNvPr id="27" name="Text 25"/>
          <p:cNvSpPr txBox="1"/>
          <p:nvPr/>
        </p:nvSpPr>
        <p:spPr>
          <a:xfrm>
            <a:off x="3429000" y="3657600"/>
            <a:ext cx="2286000" cy="548640"/>
          </a:xfrm>
          <a:prstGeom prst="rect">
            <a:avLst/>
          </a:prstGeom>
          <a:noFill/>
          <a:ln/>
        </p:spPr>
        <p:txBody>
          <a:bodyPr wrap="square" lIns="0" tIns="0" rIns="0" bIns="0" rtlCol="0" anchor="t"/>
          <a:lstStyle/>
          <a:p>
            <a:pPr indent="0" marL="0">
              <a:buNone/>
            </a:pPr>
            <a:r>
              <a:rPr lang="en-US" sz="1300" dirty="0">
                <a:solidFill>
                  <a:srgbClr val="5B6675"/>
                </a:solidFill>
              </a:rPr>
              <a:t>curl con y sin cabecera</a:t>
            </a:r>
            <a:endParaRPr lang="en-US" sz="1300" dirty="0"/>
          </a:p>
        </p:txBody>
      </p:sp>
      <p:sp>
        <p:nvSpPr>
          <p:cNvPr id="28" name="tarjeta"/>
          <p:cNvSpPr/>
          <p:nvPr/>
        </p:nvSpPr>
        <p:spPr>
          <a:xfrm>
            <a:off x="6035040" y="2926080"/>
            <a:ext cx="2606040" cy="1417320"/>
          </a:xfrm>
          <a:prstGeom prst="roundRect">
            <a:avLst>
              <a:gd name="adj" fmla="val 6452"/>
            </a:avLst>
          </a:prstGeom>
          <a:solidFill>
            <a:srgbClr val="F3F5F8"/>
          </a:solidFill>
          <a:ln/>
          <a:effectLst>
            <a:outerShdw sx="100000" sy="100000" kx="0" ky="0" algn="bl" rotWithShape="0" blurRad="76200" dist="25400" dir="5400000">
              <a:srgbClr val="000000">
                <a:alpha val="12000"/>
              </a:srgbClr>
            </a:outerShdw>
          </a:effectLst>
        </p:spPr>
      </p:sp>
      <p:sp>
        <p:nvSpPr>
          <p:cNvPr id="29" name="numero"/>
          <p:cNvSpPr/>
          <p:nvPr/>
        </p:nvSpPr>
        <p:spPr>
          <a:xfrm>
            <a:off x="6217920" y="3127248"/>
            <a:ext cx="384048" cy="384048"/>
          </a:xfrm>
          <a:prstGeom prst="ellipse">
            <a:avLst/>
          </a:prstGeom>
          <a:solidFill>
            <a:schemeClr val="accent1"/>
          </a:solidFill>
          <a:ln/>
        </p:spPr>
      </p:sp>
      <p:sp>
        <p:nvSpPr>
          <p:cNvPr id="30" name="Text 28"/>
          <p:cNvSpPr txBox="1"/>
          <p:nvPr/>
        </p:nvSpPr>
        <p:spPr>
          <a:xfrm>
            <a:off x="6217920" y="31272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6720840" y="3108960"/>
            <a:ext cx="1828800" cy="411480"/>
          </a:xfrm>
          <a:prstGeom prst="rect">
            <a:avLst/>
          </a:prstGeom>
          <a:noFill/>
          <a:ln/>
        </p:spPr>
        <p:txBody>
          <a:bodyPr wrap="square" lIns="0" tIns="0" rIns="0" bIns="0" rtlCol="0" anchor="ctr"/>
          <a:lstStyle/>
          <a:p>
            <a:pPr indent="0" marL="0">
              <a:buNone/>
            </a:pPr>
            <a:r>
              <a:rPr lang="en-US" sz="1700" b="1" dirty="0">
                <a:solidFill>
                  <a:schemeClr val="tx1"/>
                </a:solidFill>
              </a:rPr>
              <a:t>Observabilidad</a:t>
            </a:r>
            <a:endParaRPr lang="en-US" sz="1700" dirty="0"/>
          </a:p>
        </p:txBody>
      </p:sp>
      <p:sp>
        <p:nvSpPr>
          <p:cNvPr id="32" name="Text 30"/>
          <p:cNvSpPr txBox="1"/>
          <p:nvPr/>
        </p:nvSpPr>
        <p:spPr>
          <a:xfrm>
            <a:off x="6217920" y="3657600"/>
            <a:ext cx="2286000" cy="548640"/>
          </a:xfrm>
          <a:prstGeom prst="rect">
            <a:avLst/>
          </a:prstGeom>
          <a:noFill/>
          <a:ln/>
        </p:spPr>
        <p:txBody>
          <a:bodyPr wrap="square" lIns="0" tIns="0" rIns="0" bIns="0" rtlCol="0" anchor="t"/>
          <a:lstStyle/>
          <a:p>
            <a:pPr indent="0" marL="0">
              <a:buNone/>
            </a:pPr>
            <a:r>
              <a:rPr lang="en-US" sz="1300" dirty="0">
                <a:solidFill>
                  <a:srgbClr val="5B6675"/>
                </a:solidFill>
              </a:rPr>
              <a:t>Métricas, mTLS y experimentos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05840"/>
          </a:xfrm>
          <a:prstGeom prst="rect">
            <a:avLst/>
          </a:prstGeom>
          <a:noFill/>
          <a:ln/>
        </p:spPr>
        <p:txBody>
          <a:bodyPr wrap="square" lIns="0" tIns="0" rIns="0" bIns="0" rtlCol="0" anchor="ctr"/>
          <a:lstStyle/>
          <a:p>
            <a:pPr algn="l" indent="0" marL="0">
              <a:buNone/>
            </a:pPr>
            <a:r>
              <a:rPr lang="en-US" sz="4000" b="1" dirty="0">
                <a:solidFill>
                  <a:schemeClr val="bg1"/>
                </a:solidFill>
              </a:rPr>
              <a:t>1 · Contexto</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indent="0" marL="0">
              <a:buNone/>
            </a:pPr>
            <a:r>
              <a:rPr lang="en-US" sz="1800" dirty="0">
                <a:solidFill>
                  <a:schemeClr val="bg1"/>
                </a:solidFill>
              </a:rPr>
              <a:t>Controlar el tráfico entre versiones de un microservicio</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El problema</a:t>
            </a:r>
            <a:endParaRPr lang="en-US" sz="2800" dirty="0"/>
          </a:p>
        </p:txBody>
      </p:sp>
      <p:sp>
        <p:nvSpPr>
          <p:cNvPr id="3" name="tarjeta"/>
          <p:cNvSpPr/>
          <p:nvPr/>
        </p:nvSpPr>
        <p:spPr>
          <a:xfrm>
            <a:off x="457200" y="1097280"/>
            <a:ext cx="21945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4" name="numero"/>
          <p:cNvSpPr/>
          <p:nvPr/>
        </p:nvSpPr>
        <p:spPr>
          <a:xfrm>
            <a:off x="640080" y="1280160"/>
            <a:ext cx="384048" cy="384048"/>
          </a:xfrm>
          <a:prstGeom prst="ellipse">
            <a:avLst/>
          </a:prstGeom>
          <a:solidFill>
            <a:schemeClr val="accent1"/>
          </a:solidFill>
          <a:ln/>
        </p:spPr>
      </p:sp>
      <p:sp>
        <p:nvSpPr>
          <p:cNvPr id="5"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43000" y="1261872"/>
            <a:ext cx="1463040" cy="457200"/>
          </a:xfrm>
          <a:prstGeom prst="rect">
            <a:avLst/>
          </a:prstGeom>
          <a:noFill/>
          <a:ln/>
        </p:spPr>
        <p:txBody>
          <a:bodyPr wrap="square" lIns="0" tIns="0" rIns="0" bIns="0" rtlCol="0" anchor="ctr"/>
          <a:lstStyle/>
          <a:p>
            <a:pPr indent="0" marL="0">
              <a:buNone/>
            </a:pPr>
            <a:r>
              <a:rPr lang="en-US" sz="1500" b="1" dirty="0">
                <a:solidFill>
                  <a:schemeClr val="tx1"/>
                </a:solidFill>
              </a:rPr>
              <a:t>Pruebas A/B</a:t>
            </a:r>
            <a:endParaRPr lang="en-US" sz="1500" dirty="0"/>
          </a:p>
        </p:txBody>
      </p:sp>
      <p:sp>
        <p:nvSpPr>
          <p:cNvPr id="7" name="Text 5"/>
          <p:cNvSpPr txBox="1"/>
          <p:nvPr/>
        </p:nvSpPr>
        <p:spPr>
          <a:xfrm>
            <a:off x="640080" y="1828800"/>
            <a:ext cx="1874520" cy="640080"/>
          </a:xfrm>
          <a:prstGeom prst="rect">
            <a:avLst/>
          </a:prstGeom>
          <a:noFill/>
          <a:ln/>
        </p:spPr>
        <p:txBody>
          <a:bodyPr wrap="square" lIns="0" tIns="0" rIns="0" bIns="0" rtlCol="0" anchor="t"/>
          <a:lstStyle/>
          <a:p>
            <a:pPr indent="0" marL="0">
              <a:buNone/>
            </a:pPr>
            <a:r>
              <a:rPr lang="en-US" sz="1200" dirty="0">
                <a:solidFill>
                  <a:srgbClr val="5B6675"/>
                </a:solidFill>
              </a:rPr>
              <a:t>Mostrar una variante solo a un grupo de usuarios</a:t>
            </a:r>
            <a:endParaRPr lang="en-US" sz="1200" dirty="0"/>
          </a:p>
        </p:txBody>
      </p:sp>
      <p:sp>
        <p:nvSpPr>
          <p:cNvPr id="8" name="tarjeta"/>
          <p:cNvSpPr/>
          <p:nvPr/>
        </p:nvSpPr>
        <p:spPr>
          <a:xfrm>
            <a:off x="2834640" y="1097280"/>
            <a:ext cx="21945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9" name="numero"/>
          <p:cNvSpPr/>
          <p:nvPr/>
        </p:nvSpPr>
        <p:spPr>
          <a:xfrm>
            <a:off x="3017520" y="1280160"/>
            <a:ext cx="384048" cy="384048"/>
          </a:xfrm>
          <a:prstGeom prst="ellipse">
            <a:avLst/>
          </a:prstGeom>
          <a:solidFill>
            <a:schemeClr val="accent1"/>
          </a:solidFill>
          <a:ln/>
        </p:spPr>
      </p:sp>
      <p:sp>
        <p:nvSpPr>
          <p:cNvPr id="10" name="Text 8"/>
          <p:cNvSpPr txBox="1"/>
          <p:nvPr/>
        </p:nvSpPr>
        <p:spPr>
          <a:xfrm>
            <a:off x="301752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3520440" y="1261872"/>
            <a:ext cx="1463040" cy="457200"/>
          </a:xfrm>
          <a:prstGeom prst="rect">
            <a:avLst/>
          </a:prstGeom>
          <a:noFill/>
          <a:ln/>
        </p:spPr>
        <p:txBody>
          <a:bodyPr wrap="square" lIns="0" tIns="0" rIns="0" bIns="0" rtlCol="0" anchor="ctr"/>
          <a:lstStyle/>
          <a:p>
            <a:pPr indent="0" marL="0">
              <a:buNone/>
            </a:pPr>
            <a:r>
              <a:rPr lang="en-US" sz="1500" b="1" dirty="0">
                <a:solidFill>
                  <a:schemeClr val="tx1"/>
                </a:solidFill>
              </a:rPr>
              <a:t>Canary</a:t>
            </a:r>
            <a:endParaRPr lang="en-US" sz="1500" dirty="0"/>
          </a:p>
        </p:txBody>
      </p:sp>
      <p:sp>
        <p:nvSpPr>
          <p:cNvPr id="12" name="Text 10"/>
          <p:cNvSpPr txBox="1"/>
          <p:nvPr/>
        </p:nvSpPr>
        <p:spPr>
          <a:xfrm>
            <a:off x="3017520" y="1828800"/>
            <a:ext cx="1874520" cy="640080"/>
          </a:xfrm>
          <a:prstGeom prst="rect">
            <a:avLst/>
          </a:prstGeom>
          <a:noFill/>
          <a:ln/>
        </p:spPr>
        <p:txBody>
          <a:bodyPr wrap="square" lIns="0" tIns="0" rIns="0" bIns="0" rtlCol="0" anchor="t"/>
          <a:lstStyle/>
          <a:p>
            <a:pPr indent="0" marL="0">
              <a:buNone/>
            </a:pPr>
            <a:r>
              <a:rPr lang="en-US" sz="1200" dirty="0">
                <a:solidFill>
                  <a:srgbClr val="5B6675"/>
                </a:solidFill>
              </a:rPr>
              <a:t>Liberar una versión nueva a una fracción del tráfico</a:t>
            </a:r>
            <a:endParaRPr lang="en-US" sz="1200" dirty="0"/>
          </a:p>
        </p:txBody>
      </p:sp>
      <p:sp>
        <p:nvSpPr>
          <p:cNvPr id="13" name="tarjeta"/>
          <p:cNvSpPr/>
          <p:nvPr/>
        </p:nvSpPr>
        <p:spPr>
          <a:xfrm>
            <a:off x="457200" y="2788920"/>
            <a:ext cx="21945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14" name="numero"/>
          <p:cNvSpPr/>
          <p:nvPr/>
        </p:nvSpPr>
        <p:spPr>
          <a:xfrm>
            <a:off x="640080" y="2971800"/>
            <a:ext cx="384048" cy="384048"/>
          </a:xfrm>
          <a:prstGeom prst="ellipse">
            <a:avLst/>
          </a:prstGeom>
          <a:solidFill>
            <a:schemeClr val="accent1"/>
          </a:solidFill>
          <a:ln/>
        </p:spPr>
      </p:sp>
      <p:sp>
        <p:nvSpPr>
          <p:cNvPr id="15" name="Text 13"/>
          <p:cNvSpPr txBox="1"/>
          <p:nvPr/>
        </p:nvSpPr>
        <p:spPr>
          <a:xfrm>
            <a:off x="64008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1143000" y="2953512"/>
            <a:ext cx="1463040" cy="457200"/>
          </a:xfrm>
          <a:prstGeom prst="rect">
            <a:avLst/>
          </a:prstGeom>
          <a:noFill/>
          <a:ln/>
        </p:spPr>
        <p:txBody>
          <a:bodyPr wrap="square" lIns="0" tIns="0" rIns="0" bIns="0" rtlCol="0" anchor="ctr"/>
          <a:lstStyle/>
          <a:p>
            <a:pPr indent="0" marL="0">
              <a:buNone/>
            </a:pPr>
            <a:r>
              <a:rPr lang="en-US" sz="1500" b="1" dirty="0">
                <a:solidFill>
                  <a:schemeClr val="tx1"/>
                </a:solidFill>
              </a:rPr>
              <a:t>Feature flags</a:t>
            </a:r>
            <a:endParaRPr lang="en-US" sz="1500" dirty="0"/>
          </a:p>
        </p:txBody>
      </p:sp>
      <p:sp>
        <p:nvSpPr>
          <p:cNvPr id="17" name="Text 15"/>
          <p:cNvSpPr txBox="1"/>
          <p:nvPr/>
        </p:nvSpPr>
        <p:spPr>
          <a:xfrm>
            <a:off x="640080" y="3520440"/>
            <a:ext cx="1874520" cy="640080"/>
          </a:xfrm>
          <a:prstGeom prst="rect">
            <a:avLst/>
          </a:prstGeom>
          <a:noFill/>
          <a:ln/>
        </p:spPr>
        <p:txBody>
          <a:bodyPr wrap="square" lIns="0" tIns="0" rIns="0" bIns="0" rtlCol="0" anchor="t"/>
          <a:lstStyle/>
          <a:p>
            <a:pPr indent="0" marL="0">
              <a:buNone/>
            </a:pPr>
            <a:r>
              <a:rPr lang="en-US" sz="1200" dirty="0">
                <a:solidFill>
                  <a:srgbClr val="5B6675"/>
                </a:solidFill>
              </a:rPr>
              <a:t>Activar una funcionalidad con una cabecera</a:t>
            </a:r>
            <a:endParaRPr lang="en-US" sz="1200" dirty="0"/>
          </a:p>
        </p:txBody>
      </p:sp>
      <p:sp>
        <p:nvSpPr>
          <p:cNvPr id="18" name="tarjeta"/>
          <p:cNvSpPr/>
          <p:nvPr/>
        </p:nvSpPr>
        <p:spPr>
          <a:xfrm>
            <a:off x="2834640" y="2788920"/>
            <a:ext cx="21945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19" name="numero"/>
          <p:cNvSpPr/>
          <p:nvPr/>
        </p:nvSpPr>
        <p:spPr>
          <a:xfrm>
            <a:off x="3017520" y="2971800"/>
            <a:ext cx="384048" cy="384048"/>
          </a:xfrm>
          <a:prstGeom prst="ellipse">
            <a:avLst/>
          </a:prstGeom>
          <a:solidFill>
            <a:schemeClr val="accent1"/>
          </a:solidFill>
          <a:ln/>
        </p:spPr>
      </p:sp>
      <p:sp>
        <p:nvSpPr>
          <p:cNvPr id="20" name="Text 18"/>
          <p:cNvSpPr txBox="1"/>
          <p:nvPr/>
        </p:nvSpPr>
        <p:spPr>
          <a:xfrm>
            <a:off x="301752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3520440" y="2953512"/>
            <a:ext cx="1463040" cy="457200"/>
          </a:xfrm>
          <a:prstGeom prst="rect">
            <a:avLst/>
          </a:prstGeom>
          <a:noFill/>
          <a:ln/>
        </p:spPr>
        <p:txBody>
          <a:bodyPr wrap="square" lIns="0" tIns="0" rIns="0" bIns="0" rtlCol="0" anchor="ctr"/>
          <a:lstStyle/>
          <a:p>
            <a:pPr indent="0" marL="0">
              <a:buNone/>
            </a:pPr>
            <a:r>
              <a:rPr lang="en-US" sz="1500" b="1" dirty="0">
                <a:solidFill>
                  <a:schemeClr val="tx1"/>
                </a:solidFill>
              </a:rPr>
              <a:t>Seguridad y métricas</a:t>
            </a:r>
            <a:endParaRPr lang="en-US" sz="1500" dirty="0"/>
          </a:p>
        </p:txBody>
      </p:sp>
      <p:sp>
        <p:nvSpPr>
          <p:cNvPr id="22" name="Text 20"/>
          <p:cNvSpPr txBox="1"/>
          <p:nvPr/>
        </p:nvSpPr>
        <p:spPr>
          <a:xfrm>
            <a:off x="3017520" y="3520440"/>
            <a:ext cx="1874520" cy="640080"/>
          </a:xfrm>
          <a:prstGeom prst="rect">
            <a:avLst/>
          </a:prstGeom>
          <a:noFill/>
          <a:ln/>
        </p:spPr>
        <p:txBody>
          <a:bodyPr wrap="square" lIns="0" tIns="0" rIns="0" bIns="0" rtlCol="0" anchor="t"/>
          <a:lstStyle/>
          <a:p>
            <a:pPr indent="0" marL="0">
              <a:buNone/>
            </a:pPr>
            <a:r>
              <a:rPr lang="en-US" sz="1200" dirty="0">
                <a:solidFill>
                  <a:srgbClr val="5B6675"/>
                </a:solidFill>
              </a:rPr>
              <a:t>mTLS y observabilidad entre servicios</a:t>
            </a:r>
            <a:endParaRPr lang="en-US" sz="1200" dirty="0"/>
          </a:p>
        </p:txBody>
      </p:sp>
      <p:sp>
        <p:nvSpPr>
          <p:cNvPr id="23" name="tarjeta"/>
          <p:cNvSpPr/>
          <p:nvPr/>
        </p:nvSpPr>
        <p:spPr>
          <a:xfrm>
            <a:off x="5349240" y="1097280"/>
            <a:ext cx="3337560" cy="3154680"/>
          </a:xfrm>
          <a:prstGeom prst="roundRect">
            <a:avLst>
              <a:gd name="adj" fmla="val 2899"/>
            </a:avLst>
          </a:prstGeom>
          <a:solidFill>
            <a:srgbClr val="DDF3F3"/>
          </a:solidFill>
          <a:ln/>
        </p:spPr>
      </p:sp>
      <p:sp>
        <p:nvSpPr>
          <p:cNvPr id="24" name="Text 22"/>
          <p:cNvSpPr txBox="1"/>
          <p:nvPr/>
        </p:nvSpPr>
        <p:spPr>
          <a:xfrm>
            <a:off x="5532120" y="1207008"/>
            <a:ext cx="3017520" cy="274320"/>
          </a:xfrm>
          <a:prstGeom prst="rect">
            <a:avLst/>
          </a:prstGeom>
          <a:noFill/>
          <a:ln/>
        </p:spPr>
        <p:txBody>
          <a:bodyPr wrap="square" lIns="0" tIns="0" rIns="0" bIns="0" rtlCol="0" anchor="t"/>
          <a:lstStyle/>
          <a:p>
            <a:pPr indent="0" marL="0">
              <a:buNone/>
            </a:pPr>
            <a:r>
              <a:rPr lang="en-US" sz="1100" b="1" spc="200" kern="0" dirty="0">
                <a:solidFill>
                  <a:srgbClr val="0B8A8F"/>
                </a:solidFill>
              </a:rPr>
              <a:t>OBJETIVO DEL RETO</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532120" y="1600200"/>
          <a:ext cx="2971800" cy="914400"/>
        </p:xfrm>
        <a:graphic>
          <a:graphicData uri="http://schemas.openxmlformats.org/drawingml/2006/table">
            <a:tbl>
              <a:tblPr/>
              <a:tblGrid>
                <a:gridCol w="2240280"/>
                <a:gridCol w="7315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Petición</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Versión</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r>
              <a:tr h="329184">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X-Feature-Flag: new-version</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b="1" dirty="0">
                          <a:solidFill>
                            <a:srgbClr val="F26B1D"/>
                          </a:solidFill>
                          <a:latin typeface="Calibri" pitchFamily="34" charset="0"/>
                          <a:ea typeface="Calibri" pitchFamily="34" charset="-122"/>
                          <a:cs typeface="Calibri" pitchFamily="34" charset="-120"/>
                        </a:rPr>
                        <a:t>v2</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User-Agent: experimental</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b="1" dirty="0">
                          <a:solidFill>
                            <a:srgbClr val="F26B1D"/>
                          </a:solidFill>
                          <a:latin typeface="Calibri" pitchFamily="34" charset="0"/>
                          <a:ea typeface="Calibri" pitchFamily="34" charset="-122"/>
                          <a:cs typeface="Calibri" pitchFamily="34" charset="-120"/>
                        </a:rPr>
                        <a:t>v2</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Sin cabecera u otro valor</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b="1" dirty="0">
                          <a:solidFill>
                            <a:srgbClr val="2563EB"/>
                          </a:solidFill>
                          <a:latin typeface="Calibri" pitchFamily="34" charset="0"/>
                          <a:ea typeface="Calibri" pitchFamily="34" charset="-122"/>
                          <a:cs typeface="Calibri" pitchFamily="34" charset="-120"/>
                        </a:rPr>
                        <a:t>v1</a:t>
                      </a:r>
                      <a:endParaRPr lang="en-US" sz="1100" dirty="0">
                        <a:latin typeface="Calibri" charset="0"/>
                        <a:ea typeface="Calibri" charset="0"/>
                        <a:cs typeface="Calibri" charset="0"/>
                      </a:endParaRPr>
                    </a:p>
                  </a:txBody>
                  <a:tcPr marL="91440" marR="91440" marT="45720" marB="4572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26" name="Text 23"/>
          <p:cNvSpPr txBox="1"/>
          <p:nvPr/>
        </p:nvSpPr>
        <p:spPr>
          <a:xfrm>
            <a:off x="5532120" y="3154680"/>
            <a:ext cx="3017520" cy="822960"/>
          </a:xfrm>
          <a:prstGeom prst="rect">
            <a:avLst/>
          </a:prstGeom>
          <a:noFill/>
          <a:ln/>
        </p:spPr>
        <p:txBody>
          <a:bodyPr wrap="square" lIns="0" tIns="0" rIns="0" bIns="0" rtlCol="0" anchor="t"/>
          <a:lstStyle/>
          <a:p>
            <a:pPr indent="0" marL="0">
              <a:buNone/>
            </a:pPr>
            <a:r>
              <a:rPr lang="en-US" sz="1500" b="1" dirty="0">
                <a:solidFill>
                  <a:srgbClr val="0B8A8F"/>
                </a:solidFill>
              </a:rPr>
              <a:t>…sin modificar el código de la aplicación</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Lo que pide el reto y cómo lo cumplimos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931920"/>
                <a:gridCol w="429768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Requisito del enunciado</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Cómo lo resolvimos</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r>
              <a:tr h="402336">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App desplegada en Kubernetes con un Service Mesh</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Clúster kind + Linkerd edge-26.10.1</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Reglas de ruteo con CRDs del mesh</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HTTPRoute (Gateway API) web-por-cabecera</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Cabecera → versión específica</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x-feature-flag / user-agent → web-v2</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Lo demás → versión estable</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Regla por defecto → web-v1</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Verificar con curl o Postman</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Script de 100 peticiones + colección Postman</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Explorar la observabilidad del mesh</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viz stat, stat-outbound, edges, tap, dashboard</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Discutir Service Mesh vs Ingress</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Comparación al cierre</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05840"/>
          </a:xfrm>
          <a:prstGeom prst="rect">
            <a:avLst/>
          </a:prstGeom>
          <a:noFill/>
          <a:ln/>
        </p:spPr>
        <p:txBody>
          <a:bodyPr wrap="square" lIns="0" tIns="0" rIns="0" bIns="0" rtlCol="0" anchor="ctr"/>
          <a:lstStyle/>
          <a:p>
            <a:pPr algn="l" indent="0" marL="0">
              <a:buNone/>
            </a:pPr>
            <a:r>
              <a:rPr lang="en-US" sz="4000" b="1" dirty="0">
                <a:solidFill>
                  <a:schemeClr val="bg1"/>
                </a:solidFill>
              </a:rPr>
              <a:t>2 · Service Mesh y Linkerd</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indent="0" marL="0">
              <a:buNone/>
            </a:pPr>
            <a:r>
              <a:rPr lang="en-US" sz="1800" dirty="0">
                <a:solidFill>
                  <a:schemeClr val="bg1"/>
                </a:solidFill>
              </a:rPr>
              <a:t>Una capa de red transparente para la aplicación</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Cómo funciona Linkerd</a:t>
            </a:r>
            <a:endParaRPr lang="en-US" sz="2800" dirty="0"/>
          </a:p>
        </p:txBody>
      </p:sp>
      <p:pic>
        <p:nvPicPr>
          <p:cNvPr id="3" name="Image 0" descr="Control plane de Linkerd y dos pods con su linkerd-proxy conectados por mTLS">    </p:cNvPr>
          <p:cNvPicPr>
            <a:picLocks noChangeAspect="1"/>
          </p:cNvPicPr>
          <p:nvPr/>
        </p:nvPicPr>
        <p:blipFill>
          <a:blip r:embed="rId1"/>
          <a:stretch>
            <a:fillRect/>
          </a:stretch>
        </p:blipFill>
        <p:spPr>
          <a:xfrm>
            <a:off x="1099828" y="960120"/>
            <a:ext cx="6944344" cy="2514600"/>
          </a:xfrm>
          <a:prstGeom prst="rect">
            <a:avLst/>
          </a:prstGeom>
        </p:spPr>
      </p:pic>
      <p:sp>
        <p:nvSpPr>
          <p:cNvPr id="4" name="tarjeta"/>
          <p:cNvSpPr/>
          <p:nvPr/>
        </p:nvSpPr>
        <p:spPr>
          <a:xfrm>
            <a:off x="457200" y="3611880"/>
            <a:ext cx="2606040" cy="1051560"/>
          </a:xfrm>
          <a:prstGeom prst="roundRect">
            <a:avLst>
              <a:gd name="adj" fmla="val 8696"/>
            </a:avLst>
          </a:prstGeom>
          <a:solidFill>
            <a:srgbClr val="F3F5F8"/>
          </a:solidFill>
          <a:ln/>
        </p:spPr>
      </p:sp>
      <p:sp>
        <p:nvSpPr>
          <p:cNvPr id="5" name="Text 2"/>
          <p:cNvSpPr txBox="1"/>
          <p:nvPr/>
        </p:nvSpPr>
        <p:spPr>
          <a:xfrm>
            <a:off x="594360" y="3675888"/>
            <a:ext cx="2331720" cy="292608"/>
          </a:xfrm>
          <a:prstGeom prst="rect">
            <a:avLst/>
          </a:prstGeom>
          <a:noFill/>
          <a:ln/>
        </p:spPr>
        <p:txBody>
          <a:bodyPr wrap="square" lIns="0" tIns="0" rIns="0" bIns="0" rtlCol="0" anchor="t"/>
          <a:lstStyle/>
          <a:p>
            <a:pPr indent="0" marL="0">
              <a:buNone/>
            </a:pPr>
            <a:r>
              <a:rPr lang="en-US" sz="1400" b="1" dirty="0">
                <a:solidFill>
                  <a:srgbClr val="0B8A8F"/>
                </a:solidFill>
              </a:rPr>
              <a:t>Inyección</a:t>
            </a:r>
            <a:endParaRPr lang="en-US" sz="1400" dirty="0"/>
          </a:p>
        </p:txBody>
      </p:sp>
      <p:sp>
        <p:nvSpPr>
          <p:cNvPr id="6" name="Text 3"/>
          <p:cNvSpPr txBox="1"/>
          <p:nvPr/>
        </p:nvSpPr>
        <p:spPr>
          <a:xfrm>
            <a:off x="594360" y="3977640"/>
            <a:ext cx="2377440" cy="658368"/>
          </a:xfrm>
          <a:prstGeom prst="rect">
            <a:avLst/>
          </a:prstGeom>
          <a:noFill/>
          <a:ln/>
        </p:spPr>
        <p:txBody>
          <a:bodyPr wrap="square" lIns="0" tIns="0" rIns="0" bIns="0" rtlCol="0" anchor="t"/>
          <a:lstStyle/>
          <a:p>
            <a:pPr indent="0" marL="0">
              <a:buNone/>
            </a:pPr>
            <a:r>
              <a:rPr lang="en-US" sz="1100" dirty="0">
                <a:solidFill>
                  <a:srgbClr val="1F2A37"/>
                </a:solidFill>
              </a:rPr>
              <a:t>Anotación linkerd.io/inject: enabled → cada pod recibe linkerd-init y linkerd-proxy (sidecar nativo)</a:t>
            </a:r>
            <a:endParaRPr lang="en-US" sz="1100" dirty="0"/>
          </a:p>
        </p:txBody>
      </p:sp>
      <p:sp>
        <p:nvSpPr>
          <p:cNvPr id="7" name="tarjeta"/>
          <p:cNvSpPr/>
          <p:nvPr/>
        </p:nvSpPr>
        <p:spPr>
          <a:xfrm>
            <a:off x="3246120" y="3611880"/>
            <a:ext cx="2606040" cy="1051560"/>
          </a:xfrm>
          <a:prstGeom prst="roundRect">
            <a:avLst>
              <a:gd name="adj" fmla="val 8696"/>
            </a:avLst>
          </a:prstGeom>
          <a:solidFill>
            <a:srgbClr val="F3F5F8"/>
          </a:solidFill>
          <a:ln/>
        </p:spPr>
      </p:sp>
      <p:sp>
        <p:nvSpPr>
          <p:cNvPr id="8" name="Text 5"/>
          <p:cNvSpPr txBox="1"/>
          <p:nvPr/>
        </p:nvSpPr>
        <p:spPr>
          <a:xfrm>
            <a:off x="3383280" y="3675888"/>
            <a:ext cx="2331720" cy="292608"/>
          </a:xfrm>
          <a:prstGeom prst="rect">
            <a:avLst/>
          </a:prstGeom>
          <a:noFill/>
          <a:ln/>
        </p:spPr>
        <p:txBody>
          <a:bodyPr wrap="square" lIns="0" tIns="0" rIns="0" bIns="0" rtlCol="0" anchor="t"/>
          <a:lstStyle/>
          <a:p>
            <a:pPr indent="0" marL="0">
              <a:buNone/>
            </a:pPr>
            <a:r>
              <a:rPr lang="en-US" sz="1400" b="1" dirty="0">
                <a:solidFill>
                  <a:srgbClr val="0B8A8F"/>
                </a:solidFill>
              </a:rPr>
              <a:t>Proxy en Rust</a:t>
            </a:r>
            <a:endParaRPr lang="en-US" sz="1400" dirty="0"/>
          </a:p>
        </p:txBody>
      </p:sp>
      <p:sp>
        <p:nvSpPr>
          <p:cNvPr id="9" name="Text 6"/>
          <p:cNvSpPr txBox="1"/>
          <p:nvPr/>
        </p:nvSpPr>
        <p:spPr>
          <a:xfrm>
            <a:off x="3383280" y="3977640"/>
            <a:ext cx="2377440" cy="658368"/>
          </a:xfrm>
          <a:prstGeom prst="rect">
            <a:avLst/>
          </a:prstGeom>
          <a:noFill/>
          <a:ln/>
        </p:spPr>
        <p:txBody>
          <a:bodyPr wrap="square" lIns="0" tIns="0" rIns="0" bIns="0" rtlCol="0" anchor="t"/>
          <a:lstStyle/>
          <a:p>
            <a:pPr indent="0" marL="0">
              <a:buNone/>
            </a:pPr>
            <a:r>
              <a:rPr lang="en-US" sz="1100" dirty="0">
                <a:solidFill>
                  <a:srgbClr val="1F2A37"/>
                </a:solidFill>
              </a:rPr>
              <a:t>Intercepta el tráfico con iptables; la app sigue hablando HTTP normal</a:t>
            </a:r>
            <a:endParaRPr lang="en-US" sz="1100" dirty="0"/>
          </a:p>
        </p:txBody>
      </p:sp>
      <p:sp>
        <p:nvSpPr>
          <p:cNvPr id="10" name="tarjeta"/>
          <p:cNvSpPr/>
          <p:nvPr/>
        </p:nvSpPr>
        <p:spPr>
          <a:xfrm>
            <a:off x="6035040" y="3611880"/>
            <a:ext cx="2606040" cy="1051560"/>
          </a:xfrm>
          <a:prstGeom prst="roundRect">
            <a:avLst>
              <a:gd name="adj" fmla="val 8696"/>
            </a:avLst>
          </a:prstGeom>
          <a:solidFill>
            <a:srgbClr val="F3F5F8"/>
          </a:solidFill>
          <a:ln/>
        </p:spPr>
      </p:sp>
      <p:sp>
        <p:nvSpPr>
          <p:cNvPr id="11" name="Text 8"/>
          <p:cNvSpPr txBox="1"/>
          <p:nvPr/>
        </p:nvSpPr>
        <p:spPr>
          <a:xfrm>
            <a:off x="6172200" y="3675888"/>
            <a:ext cx="2331720" cy="292608"/>
          </a:xfrm>
          <a:prstGeom prst="rect">
            <a:avLst/>
          </a:prstGeom>
          <a:noFill/>
          <a:ln/>
        </p:spPr>
        <p:txBody>
          <a:bodyPr wrap="square" lIns="0" tIns="0" rIns="0" bIns="0" rtlCol="0" anchor="t"/>
          <a:lstStyle/>
          <a:p>
            <a:pPr indent="0" marL="0">
              <a:buNone/>
            </a:pPr>
            <a:r>
              <a:rPr lang="en-US" sz="1400" b="1" dirty="0">
                <a:solidFill>
                  <a:srgbClr val="0B8A8F"/>
                </a:solidFill>
              </a:rPr>
              <a:t>mTLS + métricas</a:t>
            </a:r>
            <a:endParaRPr lang="en-US" sz="1400" dirty="0"/>
          </a:p>
        </p:txBody>
      </p:sp>
      <p:sp>
        <p:nvSpPr>
          <p:cNvPr id="12" name="Text 9"/>
          <p:cNvSpPr txBox="1"/>
          <p:nvPr/>
        </p:nvSpPr>
        <p:spPr>
          <a:xfrm>
            <a:off x="6172200" y="3977640"/>
            <a:ext cx="2377440" cy="658368"/>
          </a:xfrm>
          <a:prstGeom prst="rect">
            <a:avLst/>
          </a:prstGeom>
          <a:noFill/>
          <a:ln/>
        </p:spPr>
        <p:txBody>
          <a:bodyPr wrap="square" lIns="0" tIns="0" rIns="0" bIns="0" rtlCol="0" anchor="t"/>
          <a:lstStyle/>
          <a:p>
            <a:pPr indent="0" marL="0">
              <a:buNone/>
            </a:pPr>
            <a:r>
              <a:rPr lang="en-US" sz="1100" dirty="0">
                <a:solidFill>
                  <a:srgbClr val="1F2A37"/>
                </a:solidFill>
              </a:rPr>
              <a:t>Cifra pod a pod con identidad propia y mide éxito, RPS y latencia</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HTTPRoute en lugar de TrafficSplit</a:t>
            </a:r>
            <a:endParaRPr lang="en-US" sz="2800" dirty="0"/>
          </a:p>
        </p:txBody>
      </p:sp>
      <p:sp>
        <p:nvSpPr>
          <p:cNvPr id="3" name="tarjeta"/>
          <p:cNvSpPr/>
          <p:nvPr/>
        </p:nvSpPr>
        <p:spPr>
          <a:xfrm>
            <a:off x="457200" y="1097280"/>
            <a:ext cx="4023360" cy="2514600"/>
          </a:xfrm>
          <a:prstGeom prst="roundRect">
            <a:avLst>
              <a:gd name="adj" fmla="val 3636"/>
            </a:avLst>
          </a:prstGeom>
          <a:solidFill>
            <a:srgbClr val="F3F5F8"/>
          </a:solidFill>
          <a:ln w="12700">
            <a:solidFill>
              <a:srgbClr val="9B2C2C"/>
            </a:solidFill>
            <a:prstDash val="solid"/>
          </a:ln>
        </p:spPr>
      </p:sp>
      <p:sp>
        <p:nvSpPr>
          <p:cNvPr id="4" name="Text 2"/>
          <p:cNvSpPr txBox="1"/>
          <p:nvPr/>
        </p:nvSpPr>
        <p:spPr>
          <a:xfrm>
            <a:off x="685800" y="1207008"/>
            <a:ext cx="3566160" cy="384048"/>
          </a:xfrm>
          <a:prstGeom prst="rect">
            <a:avLst/>
          </a:prstGeom>
          <a:noFill/>
          <a:ln/>
        </p:spPr>
        <p:txBody>
          <a:bodyPr wrap="square" lIns="0" tIns="0" rIns="0" bIns="0" rtlCol="0" anchor="t"/>
          <a:lstStyle/>
          <a:p>
            <a:pPr indent="0" marL="0">
              <a:buNone/>
            </a:pPr>
            <a:r>
              <a:rPr lang="en-US" sz="1800" b="1" dirty="0">
                <a:solidFill>
                  <a:srgbClr val="9B2C2C"/>
                </a:solidFill>
              </a:rPr>
              <a:t>TrafficSplit + ServiceProfile</a:t>
            </a:r>
            <a:endParaRPr lang="en-US" sz="1800" dirty="0"/>
          </a:p>
        </p:txBody>
      </p:sp>
      <p:sp>
        <p:nvSpPr>
          <p:cNvPr id="5" name="Text 3"/>
          <p:cNvSpPr txBox="1"/>
          <p:nvPr/>
        </p:nvSpPr>
        <p:spPr>
          <a:xfrm>
            <a:off x="685800" y="1600200"/>
            <a:ext cx="3566160" cy="274320"/>
          </a:xfrm>
          <a:prstGeom prst="rect">
            <a:avLst/>
          </a:prstGeom>
          <a:noFill/>
          <a:ln/>
        </p:spPr>
        <p:txBody>
          <a:bodyPr wrap="square" lIns="0" tIns="0" rIns="0" bIns="0" rtlCol="0" anchor="t"/>
          <a:lstStyle/>
          <a:p>
            <a:pPr indent="0" marL="0">
              <a:buNone/>
            </a:pPr>
            <a:r>
              <a:rPr lang="en-US" sz="1200" dirty="0">
                <a:solidFill>
                  <a:srgbClr val="5B6675"/>
                </a:solidFill>
              </a:rPr>
              <a:t>SMI (deprecado en Linkerd)</a:t>
            </a:r>
            <a:endParaRPr lang="en-US" sz="1200" dirty="0"/>
          </a:p>
        </p:txBody>
      </p:sp>
      <p:sp>
        <p:nvSpPr>
          <p:cNvPr id="6" name="Text 4"/>
          <p:cNvSpPr txBox="1"/>
          <p:nvPr/>
        </p:nvSpPr>
        <p:spPr>
          <a:xfrm>
            <a:off x="685800" y="2011680"/>
            <a:ext cx="3611880" cy="14630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 Solo reparte tráfico por pesos</a:t>
            </a:r>
            <a:endParaRPr lang="en-US" sz="1400" dirty="0"/>
          </a:p>
          <a:p>
            <a:pPr indent="0" marL="0">
              <a:spcAft>
                <a:spcPts val="600"/>
              </a:spcAft>
              <a:buNone/>
            </a:pPr>
            <a:r>
              <a:rPr lang="en-US" sz="1400" dirty="0">
                <a:solidFill>
                  <a:schemeClr val="tx1"/>
                </a:solidFill>
              </a:rPr>
              <a:t>– No puede leer cabeceras</a:t>
            </a:r>
            <a:endParaRPr lang="en-US" sz="1400" dirty="0"/>
          </a:p>
          <a:p>
            <a:pPr indent="0" marL="0">
              <a:spcAft>
                <a:spcPts val="600"/>
              </a:spcAft>
              <a:buNone/>
            </a:pPr>
            <a:r>
              <a:rPr lang="en-US" sz="1400" dirty="0">
                <a:solidFill>
                  <a:schemeClr val="tx1"/>
                </a:solidFill>
              </a:rPr>
              <a:t>– Especificación SMI archivada</a:t>
            </a:r>
            <a:endParaRPr lang="en-US" sz="1400" dirty="0"/>
          </a:p>
        </p:txBody>
      </p:sp>
      <p:sp>
        <p:nvSpPr>
          <p:cNvPr id="7" name="tarjeta"/>
          <p:cNvSpPr/>
          <p:nvPr/>
        </p:nvSpPr>
        <p:spPr>
          <a:xfrm>
            <a:off x="4663440" y="1097280"/>
            <a:ext cx="4023360" cy="2514600"/>
          </a:xfrm>
          <a:prstGeom prst="roundRect">
            <a:avLst>
              <a:gd name="adj" fmla="val 3636"/>
            </a:avLst>
          </a:prstGeom>
          <a:solidFill>
            <a:srgbClr val="F3F5F8"/>
          </a:solidFill>
          <a:ln w="12700">
            <a:solidFill>
              <a:srgbClr val="0B8A8F"/>
            </a:solidFill>
            <a:prstDash val="solid"/>
          </a:ln>
        </p:spPr>
      </p:sp>
      <p:sp>
        <p:nvSpPr>
          <p:cNvPr id="8" name="Text 6"/>
          <p:cNvSpPr txBox="1"/>
          <p:nvPr/>
        </p:nvSpPr>
        <p:spPr>
          <a:xfrm>
            <a:off x="4892040" y="1207008"/>
            <a:ext cx="3566160" cy="384048"/>
          </a:xfrm>
          <a:prstGeom prst="rect">
            <a:avLst/>
          </a:prstGeom>
          <a:noFill/>
          <a:ln/>
        </p:spPr>
        <p:txBody>
          <a:bodyPr wrap="square" lIns="0" tIns="0" rIns="0" bIns="0" rtlCol="0" anchor="t"/>
          <a:lstStyle/>
          <a:p>
            <a:pPr indent="0" marL="0">
              <a:buNone/>
            </a:pPr>
            <a:r>
              <a:rPr lang="en-US" sz="1800" b="1" dirty="0">
                <a:solidFill>
                  <a:srgbClr val="0B8A8F"/>
                </a:solidFill>
              </a:rPr>
              <a:t>HTTPRoute</a:t>
            </a:r>
            <a:endParaRPr lang="en-US" sz="1800" dirty="0"/>
          </a:p>
        </p:txBody>
      </p:sp>
      <p:sp>
        <p:nvSpPr>
          <p:cNvPr id="9" name="Text 7"/>
          <p:cNvSpPr txBox="1"/>
          <p:nvPr/>
        </p:nvSpPr>
        <p:spPr>
          <a:xfrm>
            <a:off x="4892040" y="1600200"/>
            <a:ext cx="3566160" cy="274320"/>
          </a:xfrm>
          <a:prstGeom prst="rect">
            <a:avLst/>
          </a:prstGeom>
          <a:noFill/>
          <a:ln/>
        </p:spPr>
        <p:txBody>
          <a:bodyPr wrap="square" lIns="0" tIns="0" rIns="0" bIns="0" rtlCol="0" anchor="t"/>
          <a:lstStyle/>
          <a:p>
            <a:pPr indent="0" marL="0">
              <a:buNone/>
            </a:pPr>
            <a:r>
              <a:rPr lang="en-US" sz="1200" dirty="0">
                <a:solidFill>
                  <a:srgbClr val="5B6675"/>
                </a:solidFill>
              </a:rPr>
              <a:t>Gateway API · GAMMA (recomendado)</a:t>
            </a:r>
            <a:endParaRPr lang="en-US" sz="1200" dirty="0"/>
          </a:p>
        </p:txBody>
      </p:sp>
      <p:sp>
        <p:nvSpPr>
          <p:cNvPr id="10" name="Text 8"/>
          <p:cNvSpPr txBox="1"/>
          <p:nvPr/>
        </p:nvSpPr>
        <p:spPr>
          <a:xfrm>
            <a:off x="4892040" y="2011680"/>
            <a:ext cx="3611880" cy="14630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 matches por cabecera, ruta, método o query</a:t>
            </a:r>
            <a:endParaRPr lang="en-US" sz="1400" dirty="0"/>
          </a:p>
          <a:p>
            <a:pPr indent="0" marL="0">
              <a:spcAft>
                <a:spcPts val="600"/>
              </a:spcAft>
              <a:buNone/>
            </a:pPr>
            <a:r>
              <a:rPr lang="en-US" sz="1400" dirty="0">
                <a:solidFill>
                  <a:schemeClr val="tx1"/>
                </a:solidFill>
              </a:rPr>
              <a:t>+ Pesos para canary en la misma regla</a:t>
            </a:r>
            <a:endParaRPr lang="en-US" sz="1400" dirty="0"/>
          </a:p>
          <a:p>
            <a:pPr indent="0" marL="0">
              <a:spcAft>
                <a:spcPts val="600"/>
              </a:spcAft>
              <a:buNone/>
            </a:pPr>
            <a:r>
              <a:rPr lang="en-US" sz="1400" dirty="0">
                <a:solidFill>
                  <a:schemeClr val="tx1"/>
                </a:solidFill>
              </a:rPr>
              <a:t>+ Estándar de Kubernetes: sirve también en Istio</a:t>
            </a:r>
            <a:endParaRPr lang="en-US" sz="1400" dirty="0"/>
          </a:p>
        </p:txBody>
      </p:sp>
      <p:sp>
        <p:nvSpPr>
          <p:cNvPr id="11" name="tarjeta"/>
          <p:cNvSpPr/>
          <p:nvPr/>
        </p:nvSpPr>
        <p:spPr>
          <a:xfrm>
            <a:off x="457200" y="3794760"/>
            <a:ext cx="8229600" cy="777240"/>
          </a:xfrm>
          <a:prstGeom prst="roundRect">
            <a:avLst>
              <a:gd name="adj" fmla="val 11765"/>
            </a:avLst>
          </a:prstGeom>
          <a:solidFill>
            <a:srgbClr val="DDF3F3"/>
          </a:solidFill>
          <a:ln/>
        </p:spPr>
      </p:sp>
      <p:sp>
        <p:nvSpPr>
          <p:cNvPr id="12" name="Text 10"/>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400" b="1" dirty="0">
                <a:solidFill>
                  <a:srgbClr val="1F2A37"/>
                </a:solidFill>
              </a:rPr>
              <a:t>El enunciado menciona TrafficSplit/ServiceProfile; usamos su reemplazo oficial: el parentRef de la ruta es un Service, no un Gateway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El ruteo ocurre en el proxy cliente</a:t>
            </a:r>
            <a:endParaRPr lang="en-US" sz="2800" dirty="0"/>
          </a:p>
        </p:txBody>
      </p:sp>
      <p:pic>
        <p:nvPicPr>
          <p:cNvPr id="3" name="Image 0" descr="Comparación: dentro de la malla la cabecera lleva a v2; fuera de la malla siempre a v1">    </p:cNvPr>
          <p:cNvPicPr>
            <a:picLocks noChangeAspect="1"/>
          </p:cNvPicPr>
          <p:nvPr/>
        </p:nvPicPr>
        <p:blipFill>
          <a:blip r:embed="rId1"/>
          <a:stretch>
            <a:fillRect/>
          </a:stretch>
        </p:blipFill>
        <p:spPr>
          <a:xfrm>
            <a:off x="365760" y="1598628"/>
            <a:ext cx="4937760" cy="2380584"/>
          </a:xfrm>
          <a:prstGeom prst="rect">
            <a:avLst/>
          </a:prstGeom>
        </p:spPr>
      </p:pic>
      <p:sp>
        <p:nvSpPr>
          <p:cNvPr id="4" name="Text 1"/>
          <p:cNvSpPr txBox="1"/>
          <p:nvPr/>
        </p:nvSpPr>
        <p:spPr>
          <a:xfrm>
            <a:off x="5486400" y="1143000"/>
            <a:ext cx="3200400" cy="3474720"/>
          </a:xfrm>
          <a:prstGeom prst="rect">
            <a:avLst/>
          </a:prstGeom>
          <a:noFill/>
          <a:ln/>
        </p:spPr>
        <p:txBody>
          <a:bodyPr wrap="square" rtlCol="0" anchor="t"/>
          <a:lstStyle/>
          <a:p>
            <a:pPr marL="177800" indent="-177800">
              <a:spcAft>
                <a:spcPts val="600"/>
              </a:spcAft>
              <a:buSzPct val="100000"/>
              <a:buChar char="•"/>
            </a:pPr>
            <a:r>
              <a:rPr lang="en-US" sz="1400" dirty="0">
                <a:solidFill>
                  <a:schemeClr val="tx1"/>
                </a:solidFill>
              </a:rPr>
              <a:t>Linkerd aplica el HTTPRoute en el proxy de quien envía la petición</a:t>
            </a:r>
            <a:endParaRPr lang="en-US" sz="1400" dirty="0"/>
          </a:p>
          <a:p>
            <a:pPr marL="177800" indent="-177800">
              <a:spcAft>
                <a:spcPts val="600"/>
              </a:spcAft>
              <a:buSzPct val="100000"/>
              <a:buChar char="•"/>
            </a:pPr>
            <a:r>
              <a:rPr lang="en-US" sz="1400" dirty="0">
                <a:solidFill>
                  <a:schemeClr val="tx1"/>
                </a:solidFill>
              </a:rPr>
              <a:t>Una petición que no sale por un linkerd-proxy no se enruta</a:t>
            </a:r>
            <a:endParaRPr lang="en-US" sz="1400" dirty="0"/>
          </a:p>
          <a:p>
            <a:pPr marL="177800" indent="-177800">
              <a:spcAft>
                <a:spcPts val="600"/>
              </a:spcAft>
              <a:buSzPct val="100000"/>
              <a:buChar char="•"/>
            </a:pPr>
            <a:r>
              <a:rPr lang="en-US" sz="1400" dirty="0">
                <a:solidFill>
                  <a:schemeClr val="tx1"/>
                </a:solidFill>
              </a:rPr>
              <a:t>Por eso pusimos un gateway nginx dentro de la malla como entrada desde el PC</a:t>
            </a:r>
            <a:endParaRPr lang="en-US" sz="1400" dirty="0"/>
          </a:p>
          <a:p>
            <a:pPr marL="177800" indent="-177800">
              <a:spcAft>
                <a:spcPts val="600"/>
              </a:spcAft>
              <a:buSzPct val="100000"/>
              <a:buChar char="•"/>
            </a:pPr>
            <a:r>
              <a:rPr lang="en-US" sz="1400" b="1" dirty="0">
                <a:solidFill>
                  <a:srgbClr val="0B8A8F"/>
                </a:solidFill>
              </a:rPr>
              <a:t>Lo comprobamos: por port-forward, 5/5 respuestas fueron v1 aun con la cabecera</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05840"/>
          </a:xfrm>
          <a:prstGeom prst="rect">
            <a:avLst/>
          </a:prstGeom>
          <a:noFill/>
          <a:ln/>
        </p:spPr>
        <p:txBody>
          <a:bodyPr wrap="square" lIns="0" tIns="0" rIns="0" bIns="0" rtlCol="0" anchor="ctr"/>
          <a:lstStyle/>
          <a:p>
            <a:pPr algn="l" indent="0" marL="0">
              <a:buNone/>
            </a:pPr>
            <a:r>
              <a:rPr lang="en-US" sz="4000" b="1" dirty="0">
                <a:solidFill>
                  <a:schemeClr val="bg1"/>
                </a:solidFill>
              </a:rPr>
              <a:t>3 · Arquitectura</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indent="0" marL="0">
              <a:buNone/>
            </a:pPr>
            <a:r>
              <a:rPr lang="en-US" sz="1800" dirty="0">
                <a:solidFill>
                  <a:schemeClr val="bg1"/>
                </a:solidFill>
              </a:rPr>
              <a:t>Qué desplegamos en el clúster</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Arquitectura de la solución</a:t>
            </a:r>
            <a:endParaRPr lang="en-US" sz="2800" dirty="0"/>
          </a:p>
        </p:txBody>
      </p:sp>
      <p:pic>
        <p:nvPicPr>
          <p:cNvPr id="3" name="Image 0" descr="Arquitectura: PC → gateway mallado → Service web → HTTPRoute → web-v1 o web-v2">    </p:cNvPr>
          <p:cNvPicPr>
            <a:picLocks noChangeAspect="1"/>
          </p:cNvPicPr>
          <p:nvPr/>
        </p:nvPicPr>
        <p:blipFill>
          <a:blip r:embed="rId1"/>
          <a:stretch>
            <a:fillRect/>
          </a:stretch>
        </p:blipFill>
        <p:spPr>
          <a:xfrm>
            <a:off x="530860" y="914400"/>
            <a:ext cx="3235960" cy="3840480"/>
          </a:xfrm>
          <a:prstGeom prst="rect">
            <a:avLst/>
          </a:prstGeom>
        </p:spPr>
      </p:pic>
      <p:sp>
        <p:nvSpPr>
          <p:cNvPr id="4" name="tarjeta"/>
          <p:cNvSpPr/>
          <p:nvPr/>
        </p:nvSpPr>
        <p:spPr>
          <a:xfrm>
            <a:off x="4206240" y="1005840"/>
            <a:ext cx="4480560" cy="640080"/>
          </a:xfrm>
          <a:prstGeom prst="roundRect">
            <a:avLst>
              <a:gd name="adj" fmla="val 14286"/>
            </a:avLst>
          </a:prstGeom>
          <a:solidFill>
            <a:srgbClr val="F3F5F8"/>
          </a:solidFill>
          <a:ln/>
        </p:spPr>
      </p:sp>
      <p:sp>
        <p:nvSpPr>
          <p:cNvPr id="5" name="numero"/>
          <p:cNvSpPr/>
          <p:nvPr/>
        </p:nvSpPr>
        <p:spPr>
          <a:xfrm>
            <a:off x="4343400" y="1133856"/>
            <a:ext cx="384048" cy="384048"/>
          </a:xfrm>
          <a:prstGeom prst="ellipse">
            <a:avLst/>
          </a:prstGeom>
          <a:solidFill>
            <a:srgbClr val="0B8A8F"/>
          </a:solidFill>
          <a:ln/>
        </p:spPr>
      </p:sp>
      <p:sp>
        <p:nvSpPr>
          <p:cNvPr id="6" name="Text 3"/>
          <p:cNvSpPr txBox="1"/>
          <p:nvPr/>
        </p:nvSpPr>
        <p:spPr>
          <a:xfrm>
            <a:off x="4343400" y="11338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4846320" y="1060704"/>
            <a:ext cx="3749040" cy="274320"/>
          </a:xfrm>
          <a:prstGeom prst="rect">
            <a:avLst/>
          </a:prstGeom>
          <a:noFill/>
          <a:ln/>
        </p:spPr>
        <p:txBody>
          <a:bodyPr wrap="square" lIns="0" tIns="0" rIns="0" bIns="0" rtlCol="0" anchor="t"/>
          <a:lstStyle/>
          <a:p>
            <a:pPr indent="0" marL="0">
              <a:buNone/>
            </a:pPr>
            <a:r>
              <a:rPr lang="en-US" sz="1400" b="1" dirty="0">
                <a:solidFill>
                  <a:schemeClr val="tx1"/>
                </a:solidFill>
              </a:rPr>
              <a:t>gateway</a:t>
            </a:r>
            <a:endParaRPr lang="en-US" sz="1400" dirty="0"/>
          </a:p>
        </p:txBody>
      </p:sp>
      <p:sp>
        <p:nvSpPr>
          <p:cNvPr id="8" name="Text 5"/>
          <p:cNvSpPr txBox="1"/>
          <p:nvPr/>
        </p:nvSpPr>
        <p:spPr>
          <a:xfrm>
            <a:off x="4846320" y="1335024"/>
            <a:ext cx="3749040" cy="274320"/>
          </a:xfrm>
          <a:prstGeom prst="rect">
            <a:avLst/>
          </a:prstGeom>
          <a:noFill/>
          <a:ln/>
        </p:spPr>
        <p:txBody>
          <a:bodyPr wrap="square" lIns="0" tIns="0" rIns="0" bIns="0" rtlCol="0" anchor="t"/>
          <a:lstStyle/>
          <a:p>
            <a:pPr indent="0" marL="0">
              <a:buNone/>
            </a:pPr>
            <a:r>
              <a:rPr lang="en-US" sz="1200" dirty="0">
                <a:solidFill>
                  <a:srgbClr val="5B6675"/>
                </a:solidFill>
              </a:rPr>
              <a:t>nginx mallado: entrada desde el PC por localhost:8080</a:t>
            </a:r>
            <a:endParaRPr lang="en-US" sz="1200" dirty="0"/>
          </a:p>
        </p:txBody>
      </p:sp>
      <p:sp>
        <p:nvSpPr>
          <p:cNvPr id="9" name="tarjeta"/>
          <p:cNvSpPr/>
          <p:nvPr/>
        </p:nvSpPr>
        <p:spPr>
          <a:xfrm>
            <a:off x="4206240" y="1755648"/>
            <a:ext cx="4480560" cy="640080"/>
          </a:xfrm>
          <a:prstGeom prst="roundRect">
            <a:avLst>
              <a:gd name="adj" fmla="val 14286"/>
            </a:avLst>
          </a:prstGeom>
          <a:solidFill>
            <a:srgbClr val="F3F5F8"/>
          </a:solidFill>
          <a:ln/>
        </p:spPr>
      </p:sp>
      <p:sp>
        <p:nvSpPr>
          <p:cNvPr id="10" name="numero"/>
          <p:cNvSpPr/>
          <p:nvPr/>
        </p:nvSpPr>
        <p:spPr>
          <a:xfrm>
            <a:off x="4343400" y="1883664"/>
            <a:ext cx="384048" cy="384048"/>
          </a:xfrm>
          <a:prstGeom prst="ellipse">
            <a:avLst/>
          </a:prstGeom>
          <a:solidFill>
            <a:srgbClr val="1F2A37"/>
          </a:solidFill>
          <a:ln/>
        </p:spPr>
      </p:sp>
      <p:sp>
        <p:nvSpPr>
          <p:cNvPr id="11" name="Text 8"/>
          <p:cNvSpPr txBox="1"/>
          <p:nvPr/>
        </p:nvSpPr>
        <p:spPr>
          <a:xfrm>
            <a:off x="4343400" y="18836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4846320" y="1810512"/>
            <a:ext cx="3749040" cy="274320"/>
          </a:xfrm>
          <a:prstGeom prst="rect">
            <a:avLst/>
          </a:prstGeom>
          <a:noFill/>
          <a:ln/>
        </p:spPr>
        <p:txBody>
          <a:bodyPr wrap="square" lIns="0" tIns="0" rIns="0" bIns="0" rtlCol="0" anchor="t"/>
          <a:lstStyle/>
          <a:p>
            <a:pPr indent="0" marL="0">
              <a:buNone/>
            </a:pPr>
            <a:r>
              <a:rPr lang="en-US" sz="1400" b="1" dirty="0">
                <a:solidFill>
                  <a:schemeClr val="tx1"/>
                </a:solidFill>
              </a:rPr>
              <a:t>Service web</a:t>
            </a:r>
            <a:endParaRPr lang="en-US" sz="1400" dirty="0"/>
          </a:p>
        </p:txBody>
      </p:sp>
      <p:sp>
        <p:nvSpPr>
          <p:cNvPr id="13" name="Text 10"/>
          <p:cNvSpPr txBox="1"/>
          <p:nvPr/>
        </p:nvSpPr>
        <p:spPr>
          <a:xfrm>
            <a:off x="4846320" y="2084832"/>
            <a:ext cx="3749040" cy="274320"/>
          </a:xfrm>
          <a:prstGeom prst="rect">
            <a:avLst/>
          </a:prstGeom>
          <a:noFill/>
          <a:ln/>
        </p:spPr>
        <p:txBody>
          <a:bodyPr wrap="square" lIns="0" tIns="0" rIns="0" bIns="0" rtlCol="0" anchor="t"/>
          <a:lstStyle/>
          <a:p>
            <a:pPr indent="0" marL="0">
              <a:buNone/>
            </a:pPr>
            <a:r>
              <a:rPr lang="en-US" sz="1200" dirty="0">
                <a:solidFill>
                  <a:srgbClr val="5B6675"/>
                </a:solidFill>
              </a:rPr>
              <a:t>Nombre que usan los clientes; su selector apunta solo a v1</a:t>
            </a:r>
            <a:endParaRPr lang="en-US" sz="1200" dirty="0"/>
          </a:p>
        </p:txBody>
      </p:sp>
      <p:sp>
        <p:nvSpPr>
          <p:cNvPr id="14" name="tarjeta"/>
          <p:cNvSpPr/>
          <p:nvPr/>
        </p:nvSpPr>
        <p:spPr>
          <a:xfrm>
            <a:off x="4206240" y="2505456"/>
            <a:ext cx="4480560" cy="640080"/>
          </a:xfrm>
          <a:prstGeom prst="roundRect">
            <a:avLst>
              <a:gd name="adj" fmla="val 14286"/>
            </a:avLst>
          </a:prstGeom>
          <a:solidFill>
            <a:srgbClr val="F3F5F8"/>
          </a:solidFill>
          <a:ln/>
        </p:spPr>
      </p:sp>
      <p:sp>
        <p:nvSpPr>
          <p:cNvPr id="15" name="numero"/>
          <p:cNvSpPr/>
          <p:nvPr/>
        </p:nvSpPr>
        <p:spPr>
          <a:xfrm>
            <a:off x="4343400" y="2633472"/>
            <a:ext cx="384048" cy="384048"/>
          </a:xfrm>
          <a:prstGeom prst="ellipse">
            <a:avLst/>
          </a:prstGeom>
          <a:solidFill>
            <a:srgbClr val="B7791F"/>
          </a:solidFill>
          <a:ln/>
        </p:spPr>
      </p:sp>
      <p:sp>
        <p:nvSpPr>
          <p:cNvPr id="16" name="Text 13"/>
          <p:cNvSpPr txBox="1"/>
          <p:nvPr/>
        </p:nvSpPr>
        <p:spPr>
          <a:xfrm>
            <a:off x="4343400" y="2633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4846320" y="2560320"/>
            <a:ext cx="3749040" cy="274320"/>
          </a:xfrm>
          <a:prstGeom prst="rect">
            <a:avLst/>
          </a:prstGeom>
          <a:noFill/>
          <a:ln/>
        </p:spPr>
        <p:txBody>
          <a:bodyPr wrap="square" lIns="0" tIns="0" rIns="0" bIns="0" rtlCol="0" anchor="t"/>
          <a:lstStyle/>
          <a:p>
            <a:pPr indent="0" marL="0">
              <a:buNone/>
            </a:pPr>
            <a:r>
              <a:rPr lang="en-US" sz="1400" b="1" dirty="0">
                <a:solidFill>
                  <a:schemeClr val="tx1"/>
                </a:solidFill>
              </a:rPr>
              <a:t>HTTPRoute</a:t>
            </a:r>
            <a:endParaRPr lang="en-US" sz="1400" dirty="0"/>
          </a:p>
        </p:txBody>
      </p:sp>
      <p:sp>
        <p:nvSpPr>
          <p:cNvPr id="18" name="Text 15"/>
          <p:cNvSpPr txBox="1"/>
          <p:nvPr/>
        </p:nvSpPr>
        <p:spPr>
          <a:xfrm>
            <a:off x="4846320" y="2834640"/>
            <a:ext cx="3749040" cy="274320"/>
          </a:xfrm>
          <a:prstGeom prst="rect">
            <a:avLst/>
          </a:prstGeom>
          <a:noFill/>
          <a:ln/>
        </p:spPr>
        <p:txBody>
          <a:bodyPr wrap="square" lIns="0" tIns="0" rIns="0" bIns="0" rtlCol="0" anchor="t"/>
          <a:lstStyle/>
          <a:p>
            <a:pPr indent="0" marL="0">
              <a:buNone/>
            </a:pPr>
            <a:r>
              <a:rPr lang="en-US" sz="1200" dirty="0">
                <a:solidFill>
                  <a:srgbClr val="5B6675"/>
                </a:solidFill>
              </a:rPr>
              <a:t>Decide v1 o v2 según la cabecera</a:t>
            </a:r>
            <a:endParaRPr lang="en-US" sz="1200" dirty="0"/>
          </a:p>
        </p:txBody>
      </p:sp>
      <p:sp>
        <p:nvSpPr>
          <p:cNvPr id="19" name="tarjeta"/>
          <p:cNvSpPr/>
          <p:nvPr/>
        </p:nvSpPr>
        <p:spPr>
          <a:xfrm>
            <a:off x="4206240" y="3255264"/>
            <a:ext cx="4480560" cy="640080"/>
          </a:xfrm>
          <a:prstGeom prst="roundRect">
            <a:avLst>
              <a:gd name="adj" fmla="val 14286"/>
            </a:avLst>
          </a:prstGeom>
          <a:solidFill>
            <a:srgbClr val="F3F5F8"/>
          </a:solidFill>
          <a:ln/>
        </p:spPr>
      </p:sp>
      <p:sp>
        <p:nvSpPr>
          <p:cNvPr id="20" name="numero"/>
          <p:cNvSpPr/>
          <p:nvPr/>
        </p:nvSpPr>
        <p:spPr>
          <a:xfrm>
            <a:off x="4343400" y="3383280"/>
            <a:ext cx="384048" cy="384048"/>
          </a:xfrm>
          <a:prstGeom prst="ellipse">
            <a:avLst/>
          </a:prstGeom>
          <a:solidFill>
            <a:srgbClr val="F26B1D"/>
          </a:solidFill>
          <a:ln/>
        </p:spPr>
      </p:sp>
      <p:sp>
        <p:nvSpPr>
          <p:cNvPr id="21" name="Text 18"/>
          <p:cNvSpPr txBox="1"/>
          <p:nvPr/>
        </p:nvSpPr>
        <p:spPr>
          <a:xfrm>
            <a:off x="434340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4846320" y="3310128"/>
            <a:ext cx="3749040" cy="274320"/>
          </a:xfrm>
          <a:prstGeom prst="rect">
            <a:avLst/>
          </a:prstGeom>
          <a:noFill/>
          <a:ln/>
        </p:spPr>
        <p:txBody>
          <a:bodyPr wrap="square" lIns="0" tIns="0" rIns="0" bIns="0" rtlCol="0" anchor="t"/>
          <a:lstStyle/>
          <a:p>
            <a:pPr indent="0" marL="0">
              <a:buNone/>
            </a:pPr>
            <a:r>
              <a:rPr lang="en-US" sz="1400" b="1" dirty="0">
                <a:solidFill>
                  <a:schemeClr val="tx1"/>
                </a:solidFill>
              </a:rPr>
              <a:t>web-v1 / web-v2</a:t>
            </a:r>
            <a:endParaRPr lang="en-US" sz="1400" dirty="0"/>
          </a:p>
        </p:txBody>
      </p:sp>
      <p:sp>
        <p:nvSpPr>
          <p:cNvPr id="23" name="Text 20"/>
          <p:cNvSpPr txBox="1"/>
          <p:nvPr/>
        </p:nvSpPr>
        <p:spPr>
          <a:xfrm>
            <a:off x="4846320" y="3584448"/>
            <a:ext cx="3749040" cy="274320"/>
          </a:xfrm>
          <a:prstGeom prst="rect">
            <a:avLst/>
          </a:prstGeom>
          <a:noFill/>
          <a:ln/>
        </p:spPr>
        <p:txBody>
          <a:bodyPr wrap="square" lIns="0" tIns="0" rIns="0" bIns="0" rtlCol="0" anchor="t"/>
          <a:lstStyle/>
          <a:p>
            <a:pPr indent="0" marL="0">
              <a:buNone/>
            </a:pPr>
            <a:r>
              <a:rPr lang="en-US" sz="1200" dirty="0">
                <a:solidFill>
                  <a:srgbClr val="5B6675"/>
                </a:solidFill>
              </a:rPr>
              <a:t>Misma imagen con APP_VERSION distinto (2 y 1 réplicas)</a:t>
            </a:r>
            <a:endParaRPr lang="en-US" sz="1200" dirty="0"/>
          </a:p>
        </p:txBody>
      </p:sp>
      <p:sp>
        <p:nvSpPr>
          <p:cNvPr id="24" name="tarjeta"/>
          <p:cNvSpPr/>
          <p:nvPr/>
        </p:nvSpPr>
        <p:spPr>
          <a:xfrm>
            <a:off x="4206240" y="4005072"/>
            <a:ext cx="4480560" cy="640080"/>
          </a:xfrm>
          <a:prstGeom prst="roundRect">
            <a:avLst>
              <a:gd name="adj" fmla="val 14286"/>
            </a:avLst>
          </a:prstGeom>
          <a:solidFill>
            <a:srgbClr val="F3F5F8"/>
          </a:solidFill>
          <a:ln/>
        </p:spPr>
      </p:sp>
      <p:sp>
        <p:nvSpPr>
          <p:cNvPr id="25" name="numero"/>
          <p:cNvSpPr/>
          <p:nvPr/>
        </p:nvSpPr>
        <p:spPr>
          <a:xfrm>
            <a:off x="4343400" y="4133088"/>
            <a:ext cx="384048" cy="384048"/>
          </a:xfrm>
          <a:prstGeom prst="ellipse">
            <a:avLst/>
          </a:prstGeom>
          <a:solidFill>
            <a:srgbClr val="5B6675"/>
          </a:solidFill>
          <a:ln/>
        </p:spPr>
      </p:sp>
      <p:sp>
        <p:nvSpPr>
          <p:cNvPr id="26" name="Text 23"/>
          <p:cNvSpPr txBox="1"/>
          <p:nvPr/>
        </p:nvSpPr>
        <p:spPr>
          <a:xfrm>
            <a:off x="4343400" y="41330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4846320" y="4059936"/>
            <a:ext cx="3749040" cy="274320"/>
          </a:xfrm>
          <a:prstGeom prst="rect">
            <a:avLst/>
          </a:prstGeom>
          <a:noFill/>
          <a:ln/>
        </p:spPr>
        <p:txBody>
          <a:bodyPr wrap="square" lIns="0" tIns="0" rIns="0" bIns="0" rtlCol="0" anchor="t"/>
          <a:lstStyle/>
          <a:p>
            <a:pPr indent="0" marL="0">
              <a:buNone/>
            </a:pPr>
            <a:r>
              <a:rPr lang="en-US" sz="1400" b="1" dirty="0">
                <a:solidFill>
                  <a:schemeClr val="tx1"/>
                </a:solidFill>
              </a:rPr>
              <a:t>client</a:t>
            </a:r>
            <a:endParaRPr lang="en-US" sz="1400" dirty="0"/>
          </a:p>
        </p:txBody>
      </p:sp>
      <p:sp>
        <p:nvSpPr>
          <p:cNvPr id="28" name="Text 25"/>
          <p:cNvSpPr txBox="1"/>
          <p:nvPr/>
        </p:nvSpPr>
        <p:spPr>
          <a:xfrm>
            <a:off x="4846320" y="4334256"/>
            <a:ext cx="3749040" cy="274320"/>
          </a:xfrm>
          <a:prstGeom prst="rect">
            <a:avLst/>
          </a:prstGeom>
          <a:noFill/>
          <a:ln/>
        </p:spPr>
        <p:txBody>
          <a:bodyPr wrap="square" lIns="0" tIns="0" rIns="0" bIns="0" rtlCol="0" anchor="t"/>
          <a:lstStyle/>
          <a:p>
            <a:pPr indent="0" marL="0">
              <a:buNone/>
            </a:pPr>
            <a:r>
              <a:rPr lang="en-US" sz="1200" dirty="0">
                <a:solidFill>
                  <a:srgbClr val="5B6675"/>
                </a:solidFill>
              </a:rPr>
              <a:t>Pod mallado con curl para pruebas internas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Services: seguro por defecto</a:t>
            </a:r>
            <a:endParaRPr lang="en-US" sz="2800" dirty="0"/>
          </a:p>
        </p:txBody>
      </p:sp>
      <p:sp>
        <p:nvSpPr>
          <p:cNvPr id="3" name="fondo-codigo"/>
          <p:cNvSpPr/>
          <p:nvPr/>
        </p:nvSpPr>
        <p:spPr>
          <a:xfrm>
            <a:off x="457200" y="1097280"/>
            <a:ext cx="4754880" cy="3429000"/>
          </a:xfrm>
          <a:prstGeom prst="roundRect">
            <a:avLst>
              <a:gd name="adj" fmla="val 2133"/>
            </a:avLst>
          </a:prstGeom>
          <a:solidFill>
            <a:srgbClr val="17202B"/>
          </a:solidFill>
          <a:ln/>
        </p:spPr>
      </p:sp>
      <p:sp>
        <p:nvSpPr>
          <p:cNvPr id="4" name="Text 2"/>
          <p:cNvSpPr txBox="1"/>
          <p:nvPr/>
        </p:nvSpPr>
        <p:spPr>
          <a:xfrm>
            <a:off x="594360" y="1170432"/>
            <a:ext cx="4480560" cy="228600"/>
          </a:xfrm>
          <a:prstGeom prst="rect">
            <a:avLst/>
          </a:prstGeom>
          <a:noFill/>
          <a:ln/>
        </p:spPr>
        <p:txBody>
          <a:bodyPr wrap="square" lIns="0" tIns="0" rIns="0" bIns="0" rtlCol="0" anchor="t"/>
          <a:lstStyle/>
          <a:p>
            <a:pPr indent="0" marL="0">
              <a:buNone/>
            </a:pPr>
            <a:r>
              <a:rPr lang="en-US" sz="1000" b="1" dirty="0">
                <a:solidFill>
                  <a:srgbClr val="7FE3D9"/>
                </a:solidFill>
              </a:rPr>
              <a:t>k8s/20-services.yaml (resumido)</a:t>
            </a:r>
            <a:endParaRPr lang="en-US" sz="1000" dirty="0"/>
          </a:p>
        </p:txBody>
      </p:sp>
      <p:sp>
        <p:nvSpPr>
          <p:cNvPr id="5" name="codigo"/>
          <p:cNvSpPr txBox="1"/>
          <p:nvPr/>
        </p:nvSpPr>
        <p:spPr>
          <a:xfrm>
            <a:off x="594360" y="1417320"/>
            <a:ext cx="4480560" cy="3017520"/>
          </a:xfrm>
          <a:prstGeom prst="rect">
            <a:avLst/>
          </a:prstGeom>
          <a:noFill/>
          <a:ln/>
        </p:spPr>
        <p:txBody>
          <a:bodyPr wrap="square" lIns="0" tIns="0" rIns="0" bIns="0" rtlCol="0" anchor="t"/>
          <a:lstStyle/>
          <a:p>
            <a:pPr indent="0" marL="0">
              <a:buNone/>
            </a:pPr>
            <a:r>
              <a:rPr lang="en-US" sz="1100" dirty="0">
                <a:solidFill>
                  <a:srgbClr val="E6EDF3"/>
                </a:solidFill>
                <a:latin typeface="Consolas" pitchFamily="34" charset="0"/>
                <a:ea typeface="Consolas" pitchFamily="34" charset="-122"/>
                <a:cs typeface="Consolas" pitchFamily="34" charset="-120"/>
              </a:rPr>
              <a:t>apiVersion: v1</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kind: Service</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metadata: { name: web, namespace: reto4 }</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spec:</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selector: { app: web, version: v1 }  # solo v1</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ports: [{ port: 80, targetPort: http }]</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backends que referencia el HTTPRoute</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kind: Service</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metadata: { name: web-v1 }</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spec: { selector: { app: web, version: v1 } }</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kind: Service</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metadata: { name: web-v2 }</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spec: { selector: { app: web, version: v2 } }</a:t>
            </a:r>
            <a:endParaRPr lang="en-US" sz="1100" dirty="0"/>
          </a:p>
        </p:txBody>
      </p:sp>
      <p:sp>
        <p:nvSpPr>
          <p:cNvPr id="6" name="numero"/>
          <p:cNvSpPr/>
          <p:nvPr/>
        </p:nvSpPr>
        <p:spPr>
          <a:xfrm>
            <a:off x="5486400" y="1188720"/>
            <a:ext cx="384048" cy="384048"/>
          </a:xfrm>
          <a:prstGeom prst="ellipse">
            <a:avLst/>
          </a:prstGeom>
          <a:solidFill>
            <a:schemeClr val="accent1"/>
          </a:solidFill>
          <a:ln/>
        </p:spPr>
      </p:sp>
      <p:sp>
        <p:nvSpPr>
          <p:cNvPr id="7" name="Text 5"/>
          <p:cNvSpPr txBox="1"/>
          <p:nvPr/>
        </p:nvSpPr>
        <p:spPr>
          <a:xfrm>
            <a:off x="54864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5989320" y="1170432"/>
            <a:ext cx="2743200" cy="320040"/>
          </a:xfrm>
          <a:prstGeom prst="rect">
            <a:avLst/>
          </a:prstGeom>
          <a:noFill/>
          <a:ln/>
        </p:spPr>
        <p:txBody>
          <a:bodyPr wrap="square" lIns="0" tIns="0" rIns="0" bIns="0" rtlCol="0" anchor="t"/>
          <a:lstStyle/>
          <a:p>
            <a:pPr indent="0" marL="0">
              <a:buNone/>
            </a:pPr>
            <a:r>
              <a:rPr lang="en-US" sz="1400" b="1" dirty="0">
                <a:solidFill>
                  <a:schemeClr val="tx1"/>
                </a:solidFill>
              </a:rPr>
              <a:t>Un nombre estable</a:t>
            </a:r>
            <a:endParaRPr lang="en-US" sz="1400" dirty="0"/>
          </a:p>
        </p:txBody>
      </p:sp>
      <p:sp>
        <p:nvSpPr>
          <p:cNvPr id="9" name="Text 7"/>
          <p:cNvSpPr txBox="1"/>
          <p:nvPr/>
        </p:nvSpPr>
        <p:spPr>
          <a:xfrm>
            <a:off x="5989320" y="1490472"/>
            <a:ext cx="2743200" cy="548640"/>
          </a:xfrm>
          <a:prstGeom prst="rect">
            <a:avLst/>
          </a:prstGeom>
          <a:noFill/>
          <a:ln/>
        </p:spPr>
        <p:txBody>
          <a:bodyPr wrap="square" lIns="0" tIns="0" rIns="0" bIns="0" rtlCol="0" anchor="t"/>
          <a:lstStyle/>
          <a:p>
            <a:pPr indent="0" marL="0">
              <a:buNone/>
            </a:pPr>
            <a:r>
              <a:rPr lang="en-US" sz="1200" dirty="0">
                <a:solidFill>
                  <a:srgbClr val="5B6675"/>
                </a:solidFill>
              </a:rPr>
              <a:t>Los clientes siempre llaman a web; no saben que hay versiones</a:t>
            </a:r>
            <a:endParaRPr lang="en-US" sz="1200" dirty="0"/>
          </a:p>
        </p:txBody>
      </p:sp>
      <p:sp>
        <p:nvSpPr>
          <p:cNvPr id="10" name="numero"/>
          <p:cNvSpPr/>
          <p:nvPr/>
        </p:nvSpPr>
        <p:spPr>
          <a:xfrm>
            <a:off x="5486400" y="2286000"/>
            <a:ext cx="384048" cy="384048"/>
          </a:xfrm>
          <a:prstGeom prst="ellipse">
            <a:avLst/>
          </a:prstGeom>
          <a:solidFill>
            <a:schemeClr val="accent1"/>
          </a:solidFill>
          <a:ln/>
        </p:spPr>
      </p:sp>
      <p:sp>
        <p:nvSpPr>
          <p:cNvPr id="11" name="Text 9"/>
          <p:cNvSpPr txBox="1"/>
          <p:nvPr/>
        </p:nvSpPr>
        <p:spPr>
          <a:xfrm>
            <a:off x="5486400"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5989320" y="2267712"/>
            <a:ext cx="2743200" cy="320040"/>
          </a:xfrm>
          <a:prstGeom prst="rect">
            <a:avLst/>
          </a:prstGeom>
          <a:noFill/>
          <a:ln/>
        </p:spPr>
        <p:txBody>
          <a:bodyPr wrap="square" lIns="0" tIns="0" rIns="0" bIns="0" rtlCol="0" anchor="t"/>
          <a:lstStyle/>
          <a:p>
            <a:pPr indent="0" marL="0">
              <a:buNone/>
            </a:pPr>
            <a:r>
              <a:rPr lang="en-US" sz="1400" b="1" dirty="0">
                <a:solidFill>
                  <a:schemeClr val="tx1"/>
                </a:solidFill>
              </a:rPr>
              <a:t>Un Service por versión</a:t>
            </a:r>
            <a:endParaRPr lang="en-US" sz="1400" dirty="0"/>
          </a:p>
        </p:txBody>
      </p:sp>
      <p:sp>
        <p:nvSpPr>
          <p:cNvPr id="13" name="Text 11"/>
          <p:cNvSpPr txBox="1"/>
          <p:nvPr/>
        </p:nvSpPr>
        <p:spPr>
          <a:xfrm>
            <a:off x="5989320" y="2587752"/>
            <a:ext cx="2743200" cy="548640"/>
          </a:xfrm>
          <a:prstGeom prst="rect">
            <a:avLst/>
          </a:prstGeom>
          <a:noFill/>
          <a:ln/>
        </p:spPr>
        <p:txBody>
          <a:bodyPr wrap="square" lIns="0" tIns="0" rIns="0" bIns="0" rtlCol="0" anchor="t"/>
          <a:lstStyle/>
          <a:p>
            <a:pPr indent="0" marL="0">
              <a:buNone/>
            </a:pPr>
            <a:r>
              <a:rPr lang="en-US" sz="1200" dirty="0">
                <a:solidFill>
                  <a:srgbClr val="5B6675"/>
                </a:solidFill>
              </a:rPr>
              <a:t>web-v1 y web-v2 son los destinos de la ruta</a:t>
            </a:r>
            <a:endParaRPr lang="en-US" sz="1200" dirty="0"/>
          </a:p>
        </p:txBody>
      </p:sp>
      <p:sp>
        <p:nvSpPr>
          <p:cNvPr id="14" name="numero"/>
          <p:cNvSpPr/>
          <p:nvPr/>
        </p:nvSpPr>
        <p:spPr>
          <a:xfrm>
            <a:off x="5486400" y="3383280"/>
            <a:ext cx="384048" cy="384048"/>
          </a:xfrm>
          <a:prstGeom prst="ellipse">
            <a:avLst/>
          </a:prstGeom>
          <a:solidFill>
            <a:schemeClr val="accent1"/>
          </a:solidFill>
          <a:ln/>
        </p:spPr>
      </p:sp>
      <p:sp>
        <p:nvSpPr>
          <p:cNvPr id="15" name="Text 13"/>
          <p:cNvSpPr txBox="1"/>
          <p:nvPr/>
        </p:nvSpPr>
        <p:spPr>
          <a:xfrm>
            <a:off x="548640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5989320" y="3364992"/>
            <a:ext cx="2743200" cy="320040"/>
          </a:xfrm>
          <a:prstGeom prst="rect">
            <a:avLst/>
          </a:prstGeom>
          <a:noFill/>
          <a:ln/>
        </p:spPr>
        <p:txBody>
          <a:bodyPr wrap="square" lIns="0" tIns="0" rIns="0" bIns="0" rtlCol="0" anchor="t"/>
          <a:lstStyle/>
          <a:p>
            <a:pPr indent="0" marL="0">
              <a:buNone/>
            </a:pPr>
            <a:r>
              <a:rPr lang="en-US" sz="1400" b="1" dirty="0">
                <a:solidFill>
                  <a:schemeClr val="tx1"/>
                </a:solidFill>
              </a:rPr>
              <a:t>Falla segura</a:t>
            </a:r>
            <a:endParaRPr lang="en-US" sz="1400" dirty="0"/>
          </a:p>
        </p:txBody>
      </p:sp>
      <p:sp>
        <p:nvSpPr>
          <p:cNvPr id="17" name="Text 15"/>
          <p:cNvSpPr txBox="1"/>
          <p:nvPr/>
        </p:nvSpPr>
        <p:spPr>
          <a:xfrm>
            <a:off x="5989320" y="3685032"/>
            <a:ext cx="2743200" cy="548640"/>
          </a:xfrm>
          <a:prstGeom prst="rect">
            <a:avLst/>
          </a:prstGeom>
          <a:noFill/>
          <a:ln/>
        </p:spPr>
        <p:txBody>
          <a:bodyPr wrap="square" lIns="0" tIns="0" rIns="0" bIns="0" rtlCol="0" anchor="t"/>
          <a:lstStyle/>
          <a:p>
            <a:pPr indent="0" marL="0">
              <a:buNone/>
            </a:pPr>
            <a:r>
              <a:rPr lang="en-US" sz="1200" dirty="0">
                <a:solidFill>
                  <a:srgbClr val="5B6675"/>
                </a:solidFill>
              </a:rPr>
              <a:t>Si se borra el HTTPRoute, todo vuelve a v1</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05840"/>
          </a:xfrm>
          <a:prstGeom prst="rect">
            <a:avLst/>
          </a:prstGeom>
          <a:noFill/>
          <a:ln/>
        </p:spPr>
        <p:txBody>
          <a:bodyPr wrap="square" lIns="0" tIns="0" rIns="0" bIns="0" rtlCol="0" anchor="ctr"/>
          <a:lstStyle/>
          <a:p>
            <a:pPr algn="l" indent="0" marL="0">
              <a:buNone/>
            </a:pPr>
            <a:r>
              <a:rPr lang="en-US" sz="4000" b="1" dirty="0">
                <a:solidFill>
                  <a:schemeClr val="bg1"/>
                </a:solidFill>
              </a:rPr>
              <a:t>4 · Implementación</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indent="0" marL="0">
              <a:buNone/>
            </a:pPr>
            <a:r>
              <a:rPr lang="en-US" sz="1800" dirty="0">
                <a:solidFill>
                  <a:schemeClr val="bg1"/>
                </a:solidFill>
              </a:rPr>
              <a:t>De cero a ruteo por cabeceras con scripts</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Entorno y herramientas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3383280" cy="914400"/>
        </p:xfrm>
        <a:graphic>
          <a:graphicData uri="http://schemas.openxmlformats.org/drawingml/2006/table">
            <a:tbl>
              <a:tblPr/>
              <a:tblGrid>
                <a:gridCol w="2011680"/>
                <a:gridCol w="13716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Componente</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Versión</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r>
              <a:tr h="384048">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Docker Desktop · Windows 11</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29.9.1</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kind (nodo kindest/node)</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0.33.0 · K8s 1.37.0</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kubectl</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1.36.1</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Linkerd + viz</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edge-26.10.1</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Gateway API CRDs</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v1.2.1 standard</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Node.js / nginx / curl</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22 / 1.27 / 8.11</a:t>
                      </a:r>
                      <a:endParaRPr lang="en-US" sz="115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pic>
        <p:nvPicPr>
          <p:cNvPr id="4" name="Image 0" descr="linkerd check: todas las verificaciones en verde">    </p:cNvPr>
          <p:cNvPicPr>
            <a:picLocks noChangeAspect="1"/>
          </p:cNvPicPr>
          <p:nvPr/>
        </p:nvPicPr>
        <p:blipFill>
          <a:blip r:embed="rId1"/>
          <a:stretch>
            <a:fillRect/>
          </a:stretch>
        </p:blipFill>
        <p:spPr>
          <a:xfrm>
            <a:off x="4023360" y="1512722"/>
            <a:ext cx="4663440" cy="2186635"/>
          </a:xfrm>
          <a:prstGeom prst="rect">
            <a:avLst/>
          </a:prstGeom>
        </p:spPr>
      </p:pic>
      <p:sp>
        <p:nvSpPr>
          <p:cNvPr id="5" name="Text 1"/>
          <p:cNvSpPr txBox="1"/>
          <p:nvPr/>
        </p:nvSpPr>
        <p:spPr>
          <a:xfrm>
            <a:off x="4023360" y="3749040"/>
            <a:ext cx="4663440" cy="274320"/>
          </a:xfrm>
          <a:prstGeom prst="rect">
            <a:avLst/>
          </a:prstGeom>
          <a:noFill/>
          <a:ln/>
        </p:spPr>
        <p:txBody>
          <a:bodyPr wrap="square" lIns="0" tIns="0" rIns="0" bIns="0" rtlCol="0" anchor="t"/>
          <a:lstStyle/>
          <a:p>
            <a:pPr algn="ctr" indent="0" marL="0">
              <a:buNone/>
            </a:pPr>
            <a:r>
              <a:rPr lang="en-US" sz="1000" i="1" dirty="0">
                <a:solidFill>
                  <a:srgbClr val="5B6675"/>
                </a:solidFill>
              </a:rPr>
              <a:t>linkerd check: 57 verificaciones en verde</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Paso a paso</a:t>
            </a:r>
            <a:endParaRPr lang="en-US" sz="2800" dirty="0"/>
          </a:p>
        </p:txBody>
      </p:sp>
      <p:sp>
        <p:nvSpPr>
          <p:cNvPr id="3" name="tarjeta"/>
          <p:cNvSpPr/>
          <p:nvPr/>
        </p:nvSpPr>
        <p:spPr>
          <a:xfrm>
            <a:off x="457200" y="1188720"/>
            <a:ext cx="1517904" cy="1600200"/>
          </a:xfrm>
          <a:prstGeom prst="roundRect">
            <a:avLst>
              <a:gd name="adj" fmla="val 6024"/>
            </a:avLst>
          </a:prstGeom>
          <a:solidFill>
            <a:srgbClr val="F3F5F8"/>
          </a:solidFill>
          <a:ln/>
          <a:effectLst>
            <a:outerShdw sx="100000" sy="100000" kx="0" ky="0" algn="bl" rotWithShape="0" blurRad="76200" dist="25400" dir="5400000">
              <a:srgbClr val="000000">
                <a:alpha val="12000"/>
              </a:srgbClr>
            </a:outerShdw>
          </a:effectLst>
        </p:spPr>
      </p:sp>
      <p:sp>
        <p:nvSpPr>
          <p:cNvPr id="4" name="numero"/>
          <p:cNvSpPr/>
          <p:nvPr/>
        </p:nvSpPr>
        <p:spPr>
          <a:xfrm>
            <a:off x="1024128" y="1024128"/>
            <a:ext cx="384048" cy="384048"/>
          </a:xfrm>
          <a:prstGeom prst="ellipse">
            <a:avLst/>
          </a:prstGeom>
          <a:solidFill>
            <a:schemeClr val="accent1"/>
          </a:solidFill>
          <a:ln/>
        </p:spPr>
      </p:sp>
      <p:sp>
        <p:nvSpPr>
          <p:cNvPr id="5" name="Text 3"/>
          <p:cNvSpPr txBox="1"/>
          <p:nvPr/>
        </p:nvSpPr>
        <p:spPr>
          <a:xfrm>
            <a:off x="1024128" y="10241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48640" y="1508760"/>
            <a:ext cx="1335024" cy="365760"/>
          </a:xfrm>
          <a:prstGeom prst="rect">
            <a:avLst/>
          </a:prstGeom>
          <a:noFill/>
          <a:ln/>
        </p:spPr>
        <p:txBody>
          <a:bodyPr wrap="square" lIns="0" tIns="0" rIns="0" bIns="0" rtlCol="0" anchor="t"/>
          <a:lstStyle/>
          <a:p>
            <a:pPr algn="ctr" indent="0" marL="0">
              <a:buNone/>
            </a:pPr>
            <a:r>
              <a:rPr lang="en-US" sz="1400" b="1" dirty="0">
                <a:solidFill>
                  <a:schemeClr val="tx1"/>
                </a:solidFill>
              </a:rPr>
              <a:t>Clúster</a:t>
            </a:r>
            <a:endParaRPr lang="en-US" sz="1400" dirty="0"/>
          </a:p>
        </p:txBody>
      </p:sp>
      <p:sp>
        <p:nvSpPr>
          <p:cNvPr id="7" name="Text 5"/>
          <p:cNvSpPr txBox="1"/>
          <p:nvPr/>
        </p:nvSpPr>
        <p:spPr>
          <a:xfrm>
            <a:off x="566928" y="1901952"/>
            <a:ext cx="1298448" cy="822960"/>
          </a:xfrm>
          <a:prstGeom prst="rect">
            <a:avLst/>
          </a:prstGeom>
          <a:noFill/>
          <a:ln/>
        </p:spPr>
        <p:txBody>
          <a:bodyPr wrap="square" lIns="0" tIns="0" rIns="0" bIns="0" rtlCol="0" anchor="t"/>
          <a:lstStyle/>
          <a:p>
            <a:pPr algn="ctr" indent="0" marL="0">
              <a:buNone/>
            </a:pPr>
            <a:r>
              <a:rPr lang="en-US" sz="1100" dirty="0">
                <a:solidFill>
                  <a:srgbClr val="5B6675"/>
                </a:solidFill>
              </a:rPr>
              <a:t>kind con el puerto 8080 publicado</a:t>
            </a:r>
            <a:endParaRPr lang="en-US" sz="1100" dirty="0"/>
          </a:p>
        </p:txBody>
      </p:sp>
      <p:sp>
        <p:nvSpPr>
          <p:cNvPr id="8" name="tarjeta"/>
          <p:cNvSpPr/>
          <p:nvPr/>
        </p:nvSpPr>
        <p:spPr>
          <a:xfrm>
            <a:off x="2139696" y="1188720"/>
            <a:ext cx="1517904" cy="1600200"/>
          </a:xfrm>
          <a:prstGeom prst="roundRect">
            <a:avLst>
              <a:gd name="adj" fmla="val 6024"/>
            </a:avLst>
          </a:prstGeom>
          <a:solidFill>
            <a:srgbClr val="F3F5F8"/>
          </a:solidFill>
          <a:ln/>
          <a:effectLst>
            <a:outerShdw sx="100000" sy="100000" kx="0" ky="0" algn="bl" rotWithShape="0" blurRad="76200" dist="25400" dir="5400000">
              <a:srgbClr val="000000">
                <a:alpha val="12000"/>
              </a:srgbClr>
            </a:outerShdw>
          </a:effectLst>
        </p:spPr>
      </p:sp>
      <p:sp>
        <p:nvSpPr>
          <p:cNvPr id="9" name="numero"/>
          <p:cNvSpPr/>
          <p:nvPr/>
        </p:nvSpPr>
        <p:spPr>
          <a:xfrm>
            <a:off x="2706624" y="1024128"/>
            <a:ext cx="384048" cy="384048"/>
          </a:xfrm>
          <a:prstGeom prst="ellipse">
            <a:avLst/>
          </a:prstGeom>
          <a:solidFill>
            <a:schemeClr val="accent1"/>
          </a:solidFill>
          <a:ln/>
        </p:spPr>
      </p:sp>
      <p:sp>
        <p:nvSpPr>
          <p:cNvPr id="10" name="Text 8"/>
          <p:cNvSpPr txBox="1"/>
          <p:nvPr/>
        </p:nvSpPr>
        <p:spPr>
          <a:xfrm>
            <a:off x="2706624" y="10241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2231136" y="1508760"/>
            <a:ext cx="1335024" cy="365760"/>
          </a:xfrm>
          <a:prstGeom prst="rect">
            <a:avLst/>
          </a:prstGeom>
          <a:noFill/>
          <a:ln/>
        </p:spPr>
        <p:txBody>
          <a:bodyPr wrap="square" lIns="0" tIns="0" rIns="0" bIns="0" rtlCol="0" anchor="t"/>
          <a:lstStyle/>
          <a:p>
            <a:pPr algn="ctr" indent="0" marL="0">
              <a:buNone/>
            </a:pPr>
            <a:r>
              <a:rPr lang="en-US" sz="1400" b="1" dirty="0">
                <a:solidFill>
                  <a:schemeClr val="tx1"/>
                </a:solidFill>
              </a:rPr>
              <a:t>Linkerd</a:t>
            </a:r>
            <a:endParaRPr lang="en-US" sz="1400" dirty="0"/>
          </a:p>
        </p:txBody>
      </p:sp>
      <p:sp>
        <p:nvSpPr>
          <p:cNvPr id="12" name="Text 10"/>
          <p:cNvSpPr txBox="1"/>
          <p:nvPr/>
        </p:nvSpPr>
        <p:spPr>
          <a:xfrm>
            <a:off x="2249424" y="1901952"/>
            <a:ext cx="1298448" cy="822960"/>
          </a:xfrm>
          <a:prstGeom prst="rect">
            <a:avLst/>
          </a:prstGeom>
          <a:noFill/>
          <a:ln/>
        </p:spPr>
        <p:txBody>
          <a:bodyPr wrap="square" lIns="0" tIns="0" rIns="0" bIns="0" rtlCol="0" anchor="t"/>
          <a:lstStyle/>
          <a:p>
            <a:pPr algn="ctr" indent="0" marL="0">
              <a:buNone/>
            </a:pPr>
            <a:r>
              <a:rPr lang="en-US" sz="1100" dirty="0">
                <a:solidFill>
                  <a:srgbClr val="5B6675"/>
                </a:solidFill>
              </a:rPr>
              <a:t>Gateway API CRDs, control plane y viz</a:t>
            </a:r>
            <a:endParaRPr lang="en-US" sz="1100" dirty="0"/>
          </a:p>
        </p:txBody>
      </p:sp>
      <p:sp>
        <p:nvSpPr>
          <p:cNvPr id="13" name="tarjeta"/>
          <p:cNvSpPr/>
          <p:nvPr/>
        </p:nvSpPr>
        <p:spPr>
          <a:xfrm>
            <a:off x="3822192" y="1188720"/>
            <a:ext cx="1517904" cy="1600200"/>
          </a:xfrm>
          <a:prstGeom prst="roundRect">
            <a:avLst>
              <a:gd name="adj" fmla="val 6024"/>
            </a:avLst>
          </a:prstGeom>
          <a:solidFill>
            <a:srgbClr val="F3F5F8"/>
          </a:solidFill>
          <a:ln/>
          <a:effectLst>
            <a:outerShdw sx="100000" sy="100000" kx="0" ky="0" algn="bl" rotWithShape="0" blurRad="76200" dist="25400" dir="5400000">
              <a:srgbClr val="000000">
                <a:alpha val="12000"/>
              </a:srgbClr>
            </a:outerShdw>
          </a:effectLst>
        </p:spPr>
      </p:sp>
      <p:sp>
        <p:nvSpPr>
          <p:cNvPr id="14" name="numero"/>
          <p:cNvSpPr/>
          <p:nvPr/>
        </p:nvSpPr>
        <p:spPr>
          <a:xfrm>
            <a:off x="4389120" y="1024128"/>
            <a:ext cx="384048" cy="384048"/>
          </a:xfrm>
          <a:prstGeom prst="ellipse">
            <a:avLst/>
          </a:prstGeom>
          <a:solidFill>
            <a:schemeClr val="accent1"/>
          </a:solidFill>
          <a:ln/>
        </p:spPr>
      </p:sp>
      <p:sp>
        <p:nvSpPr>
          <p:cNvPr id="15" name="Text 13"/>
          <p:cNvSpPr txBox="1"/>
          <p:nvPr/>
        </p:nvSpPr>
        <p:spPr>
          <a:xfrm>
            <a:off x="4389120" y="10241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3913632" y="1508760"/>
            <a:ext cx="1335024" cy="365760"/>
          </a:xfrm>
          <a:prstGeom prst="rect">
            <a:avLst/>
          </a:prstGeom>
          <a:noFill/>
          <a:ln/>
        </p:spPr>
        <p:txBody>
          <a:bodyPr wrap="square" lIns="0" tIns="0" rIns="0" bIns="0" rtlCol="0" anchor="t"/>
          <a:lstStyle/>
          <a:p>
            <a:pPr algn="ctr" indent="0" marL="0">
              <a:buNone/>
            </a:pPr>
            <a:r>
              <a:rPr lang="en-US" sz="1400" b="1" dirty="0">
                <a:solidFill>
                  <a:schemeClr val="tx1"/>
                </a:solidFill>
              </a:rPr>
              <a:t>App</a:t>
            </a:r>
            <a:endParaRPr lang="en-US" sz="1400" dirty="0"/>
          </a:p>
        </p:txBody>
      </p:sp>
      <p:sp>
        <p:nvSpPr>
          <p:cNvPr id="17" name="Text 15"/>
          <p:cNvSpPr txBox="1"/>
          <p:nvPr/>
        </p:nvSpPr>
        <p:spPr>
          <a:xfrm>
            <a:off x="3931920" y="1901952"/>
            <a:ext cx="1298448" cy="822960"/>
          </a:xfrm>
          <a:prstGeom prst="rect">
            <a:avLst/>
          </a:prstGeom>
          <a:noFill/>
          <a:ln/>
        </p:spPr>
        <p:txBody>
          <a:bodyPr wrap="square" lIns="0" tIns="0" rIns="0" bIns="0" rtlCol="0" anchor="t"/>
          <a:lstStyle/>
          <a:p>
            <a:pPr algn="ctr" indent="0" marL="0">
              <a:buNone/>
            </a:pPr>
            <a:r>
              <a:rPr lang="en-US" sz="1100" dirty="0">
                <a:solidFill>
                  <a:srgbClr val="5B6675"/>
                </a:solidFill>
              </a:rPr>
              <a:t>Build v1/v2, kind load y manifiestos</a:t>
            </a:r>
            <a:endParaRPr lang="en-US" sz="1100" dirty="0"/>
          </a:p>
        </p:txBody>
      </p:sp>
      <p:sp>
        <p:nvSpPr>
          <p:cNvPr id="18" name="tarjeta"/>
          <p:cNvSpPr/>
          <p:nvPr/>
        </p:nvSpPr>
        <p:spPr>
          <a:xfrm>
            <a:off x="5504688" y="1188720"/>
            <a:ext cx="1517904" cy="1600200"/>
          </a:xfrm>
          <a:prstGeom prst="roundRect">
            <a:avLst>
              <a:gd name="adj" fmla="val 6024"/>
            </a:avLst>
          </a:prstGeom>
          <a:solidFill>
            <a:srgbClr val="F3F5F8"/>
          </a:solidFill>
          <a:ln/>
          <a:effectLst>
            <a:outerShdw sx="100000" sy="100000" kx="0" ky="0" algn="bl" rotWithShape="0" blurRad="76200" dist="25400" dir="5400000">
              <a:srgbClr val="000000">
                <a:alpha val="12000"/>
              </a:srgbClr>
            </a:outerShdw>
          </a:effectLst>
        </p:spPr>
      </p:sp>
      <p:sp>
        <p:nvSpPr>
          <p:cNvPr id="19" name="numero"/>
          <p:cNvSpPr/>
          <p:nvPr/>
        </p:nvSpPr>
        <p:spPr>
          <a:xfrm>
            <a:off x="6071616" y="1024128"/>
            <a:ext cx="384048" cy="384048"/>
          </a:xfrm>
          <a:prstGeom prst="ellipse">
            <a:avLst/>
          </a:prstGeom>
          <a:solidFill>
            <a:schemeClr val="accent1"/>
          </a:solidFill>
          <a:ln/>
        </p:spPr>
      </p:sp>
      <p:sp>
        <p:nvSpPr>
          <p:cNvPr id="20" name="Text 18"/>
          <p:cNvSpPr txBox="1"/>
          <p:nvPr/>
        </p:nvSpPr>
        <p:spPr>
          <a:xfrm>
            <a:off x="6071616" y="10241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5596128" y="1508760"/>
            <a:ext cx="1335024" cy="365760"/>
          </a:xfrm>
          <a:prstGeom prst="rect">
            <a:avLst/>
          </a:prstGeom>
          <a:noFill/>
          <a:ln/>
        </p:spPr>
        <p:txBody>
          <a:bodyPr wrap="square" lIns="0" tIns="0" rIns="0" bIns="0" rtlCol="0" anchor="t"/>
          <a:lstStyle/>
          <a:p>
            <a:pPr algn="ctr" indent="0" marL="0">
              <a:buNone/>
            </a:pPr>
            <a:r>
              <a:rPr lang="en-US" sz="1400" b="1" dirty="0">
                <a:solidFill>
                  <a:schemeClr val="tx1"/>
                </a:solidFill>
              </a:rPr>
              <a:t>Ruta</a:t>
            </a:r>
            <a:endParaRPr lang="en-US" sz="1400" dirty="0"/>
          </a:p>
        </p:txBody>
      </p:sp>
      <p:sp>
        <p:nvSpPr>
          <p:cNvPr id="22" name="Text 20"/>
          <p:cNvSpPr txBox="1"/>
          <p:nvPr/>
        </p:nvSpPr>
        <p:spPr>
          <a:xfrm>
            <a:off x="5614416" y="1901952"/>
            <a:ext cx="1298448" cy="822960"/>
          </a:xfrm>
          <a:prstGeom prst="rect">
            <a:avLst/>
          </a:prstGeom>
          <a:noFill/>
          <a:ln/>
        </p:spPr>
        <p:txBody>
          <a:bodyPr wrap="square" lIns="0" tIns="0" rIns="0" bIns="0" rtlCol="0" anchor="t"/>
          <a:lstStyle/>
          <a:p>
            <a:pPr algn="ctr" indent="0" marL="0">
              <a:buNone/>
            </a:pPr>
            <a:r>
              <a:rPr lang="en-US" sz="1100" dirty="0">
                <a:solidFill>
                  <a:srgbClr val="5B6675"/>
                </a:solidFill>
              </a:rPr>
              <a:t>kubectl apply del HTTPRoute</a:t>
            </a:r>
            <a:endParaRPr lang="en-US" sz="1100" dirty="0"/>
          </a:p>
        </p:txBody>
      </p:sp>
      <p:sp>
        <p:nvSpPr>
          <p:cNvPr id="23" name="tarjeta"/>
          <p:cNvSpPr/>
          <p:nvPr/>
        </p:nvSpPr>
        <p:spPr>
          <a:xfrm>
            <a:off x="7187184" y="1188720"/>
            <a:ext cx="1517904" cy="1600200"/>
          </a:xfrm>
          <a:prstGeom prst="roundRect">
            <a:avLst>
              <a:gd name="adj" fmla="val 6024"/>
            </a:avLst>
          </a:prstGeom>
          <a:solidFill>
            <a:srgbClr val="F3F5F8"/>
          </a:solidFill>
          <a:ln/>
          <a:effectLst>
            <a:outerShdw sx="100000" sy="100000" kx="0" ky="0" algn="bl" rotWithShape="0" blurRad="76200" dist="25400" dir="5400000">
              <a:srgbClr val="000000">
                <a:alpha val="12000"/>
              </a:srgbClr>
            </a:outerShdw>
          </a:effectLst>
        </p:spPr>
      </p:sp>
      <p:sp>
        <p:nvSpPr>
          <p:cNvPr id="24" name="numero"/>
          <p:cNvSpPr/>
          <p:nvPr/>
        </p:nvSpPr>
        <p:spPr>
          <a:xfrm>
            <a:off x="7754112" y="1024128"/>
            <a:ext cx="384048" cy="384048"/>
          </a:xfrm>
          <a:prstGeom prst="ellipse">
            <a:avLst/>
          </a:prstGeom>
          <a:solidFill>
            <a:schemeClr val="accent1"/>
          </a:solidFill>
          <a:ln/>
        </p:spPr>
      </p:sp>
      <p:sp>
        <p:nvSpPr>
          <p:cNvPr id="25" name="Text 23"/>
          <p:cNvSpPr txBox="1"/>
          <p:nvPr/>
        </p:nvSpPr>
        <p:spPr>
          <a:xfrm>
            <a:off x="7754112" y="10241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7278624" y="1508760"/>
            <a:ext cx="1335024" cy="365760"/>
          </a:xfrm>
          <a:prstGeom prst="rect">
            <a:avLst/>
          </a:prstGeom>
          <a:noFill/>
          <a:ln/>
        </p:spPr>
        <p:txBody>
          <a:bodyPr wrap="square" lIns="0" tIns="0" rIns="0" bIns="0" rtlCol="0" anchor="t"/>
          <a:lstStyle/>
          <a:p>
            <a:pPr algn="ctr" indent="0" marL="0">
              <a:buNone/>
            </a:pPr>
            <a:r>
              <a:rPr lang="en-US" sz="1400" b="1" dirty="0">
                <a:solidFill>
                  <a:schemeClr val="tx1"/>
                </a:solidFill>
              </a:rPr>
              <a:t>Pruebas</a:t>
            </a:r>
            <a:endParaRPr lang="en-US" sz="1400" dirty="0"/>
          </a:p>
        </p:txBody>
      </p:sp>
      <p:sp>
        <p:nvSpPr>
          <p:cNvPr id="27" name="Text 25"/>
          <p:cNvSpPr txBox="1"/>
          <p:nvPr/>
        </p:nvSpPr>
        <p:spPr>
          <a:xfrm>
            <a:off x="7296912" y="1901952"/>
            <a:ext cx="1298448" cy="822960"/>
          </a:xfrm>
          <a:prstGeom prst="rect">
            <a:avLst/>
          </a:prstGeom>
          <a:noFill/>
          <a:ln/>
        </p:spPr>
        <p:txBody>
          <a:bodyPr wrap="square" lIns="0" tIns="0" rIns="0" bIns="0" rtlCol="0" anchor="t"/>
          <a:lstStyle/>
          <a:p>
            <a:pPr algn="ctr" indent="0" marL="0">
              <a:buNone/>
            </a:pPr>
            <a:r>
              <a:rPr lang="en-US" sz="1100" dirty="0">
                <a:solidFill>
                  <a:srgbClr val="5B6675"/>
                </a:solidFill>
              </a:rPr>
              <a:t>20 peticiones por caso y conteo</a:t>
            </a:r>
            <a:endParaRPr lang="en-US" sz="1100" dirty="0"/>
          </a:p>
        </p:txBody>
      </p:sp>
      <p:sp>
        <p:nvSpPr>
          <p:cNvPr id="28" name="fondo-codigo"/>
          <p:cNvSpPr/>
          <p:nvPr/>
        </p:nvSpPr>
        <p:spPr>
          <a:xfrm>
            <a:off x="457200" y="3063240"/>
            <a:ext cx="8229600" cy="960120"/>
          </a:xfrm>
          <a:prstGeom prst="roundRect">
            <a:avLst>
              <a:gd name="adj" fmla="val 7619"/>
            </a:avLst>
          </a:prstGeom>
          <a:solidFill>
            <a:srgbClr val="17202B"/>
          </a:solidFill>
          <a:ln/>
        </p:spPr>
      </p:sp>
      <p:sp>
        <p:nvSpPr>
          <p:cNvPr id="29" name="Text 27"/>
          <p:cNvSpPr txBox="1"/>
          <p:nvPr/>
        </p:nvSpPr>
        <p:spPr>
          <a:xfrm>
            <a:off x="594360" y="3136392"/>
            <a:ext cx="7955280" cy="228600"/>
          </a:xfrm>
          <a:prstGeom prst="rect">
            <a:avLst/>
          </a:prstGeom>
          <a:noFill/>
          <a:ln/>
        </p:spPr>
        <p:txBody>
          <a:bodyPr wrap="square" lIns="0" tIns="0" rIns="0" bIns="0" rtlCol="0" anchor="t"/>
          <a:lstStyle/>
          <a:p>
            <a:pPr indent="0" marL="0">
              <a:buNone/>
            </a:pPr>
            <a:r>
              <a:rPr lang="en-US" sz="1000" b="1" dirty="0">
                <a:solidFill>
                  <a:srgbClr val="7FE3D9"/>
                </a:solidFill>
              </a:rPr>
              <a:t>Git Bash · raíz del repositorio</a:t>
            </a:r>
            <a:endParaRPr lang="en-US" sz="1000" dirty="0"/>
          </a:p>
        </p:txBody>
      </p:sp>
      <p:sp>
        <p:nvSpPr>
          <p:cNvPr id="30" name="codigo"/>
          <p:cNvSpPr txBox="1"/>
          <p:nvPr/>
        </p:nvSpPr>
        <p:spPr>
          <a:xfrm>
            <a:off x="594360" y="3383280"/>
            <a:ext cx="7955280" cy="548640"/>
          </a:xfrm>
          <a:prstGeom prst="rect">
            <a:avLst/>
          </a:prstGeom>
          <a:noFill/>
          <a:ln/>
        </p:spPr>
        <p:txBody>
          <a:bodyPr wrap="square" lIns="0" tIns="0" rIns="0" bIns="0" rtlCol="0" anchor="t"/>
          <a:lstStyle/>
          <a:p>
            <a:pPr indent="0" marL="0">
              <a:buNone/>
            </a:pPr>
            <a:r>
              <a:rPr lang="en-US" sz="1200" dirty="0">
                <a:solidFill>
                  <a:srgbClr val="E6EDF3"/>
                </a:solidFill>
                <a:latin typeface="Consolas" pitchFamily="34" charset="0"/>
                <a:ea typeface="Consolas" pitchFamily="34" charset="-122"/>
                <a:cs typeface="Consolas" pitchFamily="34" charset="-120"/>
              </a:rPr>
              <a:t>scripts/01-crear-cluster.sh       scripts/04-aplicar-rutas.sh header</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scripts/02-instalar-linkerd.sh    scripts/05-probar.sh 20</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scripts/03-desplegar-app.sh       scripts/06-observabilidad.sh</a:t>
            </a:r>
            <a:endParaRPr lang="en-US" sz="1200" dirty="0"/>
          </a:p>
        </p:txBody>
      </p:sp>
      <p:sp>
        <p:nvSpPr>
          <p:cNvPr id="31" name="Text 29"/>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400" b="1" dirty="0">
                <a:solidFill>
                  <a:srgbClr val="0B8A8F"/>
                </a:solidFill>
              </a:rPr>
              <a:t>Todo es reproducible: scripts/99-limpiar.sh borra el clúster y se vuelve a levantar en ~10 minutos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La aplicación: una imagen, dos versiones</a:t>
            </a:r>
            <a:endParaRPr lang="en-US" sz="2800" dirty="0"/>
          </a:p>
        </p:txBody>
      </p:sp>
      <p:sp>
        <p:nvSpPr>
          <p:cNvPr id="3" name="fondo-codigo"/>
          <p:cNvSpPr/>
          <p:nvPr/>
        </p:nvSpPr>
        <p:spPr>
          <a:xfrm>
            <a:off x="457200" y="1097280"/>
            <a:ext cx="5120640" cy="2606040"/>
          </a:xfrm>
          <a:prstGeom prst="roundRect">
            <a:avLst>
              <a:gd name="adj" fmla="val 2807"/>
            </a:avLst>
          </a:prstGeom>
          <a:solidFill>
            <a:srgbClr val="17202B"/>
          </a:solidFill>
          <a:ln/>
        </p:spPr>
      </p:sp>
      <p:sp>
        <p:nvSpPr>
          <p:cNvPr id="4" name="Text 2"/>
          <p:cNvSpPr txBox="1"/>
          <p:nvPr/>
        </p:nvSpPr>
        <p:spPr>
          <a:xfrm>
            <a:off x="594360" y="1170432"/>
            <a:ext cx="4846320" cy="228600"/>
          </a:xfrm>
          <a:prstGeom prst="rect">
            <a:avLst/>
          </a:prstGeom>
          <a:noFill/>
          <a:ln/>
        </p:spPr>
        <p:txBody>
          <a:bodyPr wrap="square" lIns="0" tIns="0" rIns="0" bIns="0" rtlCol="0" anchor="t"/>
          <a:lstStyle/>
          <a:p>
            <a:pPr indent="0" marL="0">
              <a:buNone/>
            </a:pPr>
            <a:r>
              <a:rPr lang="en-US" sz="1000" b="1" dirty="0">
                <a:solidFill>
                  <a:srgbClr val="7FE3D9"/>
                </a:solidFill>
              </a:rPr>
              <a:t>app/server.js (resumido)</a:t>
            </a:r>
            <a:endParaRPr lang="en-US" sz="1000" dirty="0"/>
          </a:p>
        </p:txBody>
      </p:sp>
      <p:sp>
        <p:nvSpPr>
          <p:cNvPr id="5" name="codigo"/>
          <p:cNvSpPr txBox="1"/>
          <p:nvPr/>
        </p:nvSpPr>
        <p:spPr>
          <a:xfrm>
            <a:off x="594360" y="1417320"/>
            <a:ext cx="4846320" cy="2194560"/>
          </a:xfrm>
          <a:prstGeom prst="rect">
            <a:avLst/>
          </a:prstGeom>
          <a:noFill/>
          <a:ln/>
        </p:spPr>
        <p:txBody>
          <a:bodyPr wrap="square" lIns="0" tIns="0" rIns="0" bIns="0" rtlCol="0" anchor="t"/>
          <a:lstStyle/>
          <a:p>
            <a:pPr indent="0" marL="0">
              <a:buNone/>
            </a:pPr>
            <a:r>
              <a:rPr lang="en-US" sz="1050" dirty="0">
                <a:solidFill>
                  <a:srgbClr val="E6EDF3"/>
                </a:solidFill>
                <a:latin typeface="Consolas" pitchFamily="34" charset="0"/>
                <a:ea typeface="Consolas" pitchFamily="34" charset="-122"/>
                <a:cs typeface="Consolas" pitchFamily="34" charset="-120"/>
              </a:rPr>
              <a:t>const VERSION = process.env.APP_VERSION || 'v1';</a:t>
            </a:r>
            <a:endParaRPr lang="en-US" sz="1050" dirty="0"/>
          </a:p>
          <a:p>
            <a:pPr indent="0" marL="0">
              <a:buNone/>
            </a:pP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http.createServer((req, res) =&gt;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const body =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version: VERSION,</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pod: os.hostname(),</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cabeceras: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'x-feature-flag': req.headers['x-feature-flag'] || null,</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'user-agent': req.headers['user-agent'] || null }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res.writeHead(200, { 'X-App-Version': VERSION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res.end(JSON.stringify(body, null, 2));</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}).listen(8080);</a:t>
            </a:r>
            <a:endParaRPr lang="en-US" sz="1050" dirty="0"/>
          </a:p>
        </p:txBody>
      </p:sp>
      <p:sp>
        <p:nvSpPr>
          <p:cNvPr id="6" name="fondo-codigo"/>
          <p:cNvSpPr/>
          <p:nvPr/>
        </p:nvSpPr>
        <p:spPr>
          <a:xfrm>
            <a:off x="457200" y="3840480"/>
            <a:ext cx="5120640" cy="731520"/>
          </a:xfrm>
          <a:prstGeom prst="roundRect">
            <a:avLst>
              <a:gd name="adj" fmla="val 10000"/>
            </a:avLst>
          </a:prstGeom>
          <a:solidFill>
            <a:srgbClr val="17202B"/>
          </a:solidFill>
          <a:ln/>
        </p:spPr>
      </p:sp>
      <p:sp>
        <p:nvSpPr>
          <p:cNvPr id="7" name="Text 5"/>
          <p:cNvSpPr txBox="1"/>
          <p:nvPr/>
        </p:nvSpPr>
        <p:spPr>
          <a:xfrm>
            <a:off x="594360" y="3913632"/>
            <a:ext cx="4846320" cy="228600"/>
          </a:xfrm>
          <a:prstGeom prst="rect">
            <a:avLst/>
          </a:prstGeom>
          <a:noFill/>
          <a:ln/>
        </p:spPr>
        <p:txBody>
          <a:bodyPr wrap="square" lIns="0" tIns="0" rIns="0" bIns="0" rtlCol="0" anchor="t"/>
          <a:lstStyle/>
          <a:p>
            <a:pPr indent="0" marL="0">
              <a:buNone/>
            </a:pPr>
            <a:r>
              <a:rPr lang="en-US" sz="1000" b="1" dirty="0">
                <a:solidFill>
                  <a:srgbClr val="7FE3D9"/>
                </a:solidFill>
              </a:rPr>
              <a:t>Dockerfile con ARG APP_VERSION</a:t>
            </a:r>
            <a:endParaRPr lang="en-US" sz="1000" dirty="0"/>
          </a:p>
        </p:txBody>
      </p:sp>
      <p:sp>
        <p:nvSpPr>
          <p:cNvPr id="8" name="codigo"/>
          <p:cNvSpPr txBox="1"/>
          <p:nvPr/>
        </p:nvSpPr>
        <p:spPr>
          <a:xfrm>
            <a:off x="594360" y="4160520"/>
            <a:ext cx="4846320" cy="320040"/>
          </a:xfrm>
          <a:prstGeom prst="rect">
            <a:avLst/>
          </a:prstGeom>
          <a:noFill/>
          <a:ln/>
        </p:spPr>
        <p:txBody>
          <a:bodyPr wrap="square" lIns="0" tIns="0" rIns="0" bIns="0" rtlCol="0" anchor="t"/>
          <a:lstStyle/>
          <a:p>
            <a:pPr indent="0" marL="0">
              <a:buNone/>
            </a:pPr>
            <a:r>
              <a:rPr lang="en-US" sz="1000" dirty="0">
                <a:solidFill>
                  <a:srgbClr val="E6EDF3"/>
                </a:solidFill>
                <a:latin typeface="Consolas" pitchFamily="34" charset="0"/>
                <a:ea typeface="Consolas" pitchFamily="34" charset="-122"/>
                <a:cs typeface="Consolas" pitchFamily="34" charset="-120"/>
              </a:rPr>
              <a:t>docker build -t reto4-app:v1 --build-arg APP_VERSION=v1 app</a:t>
            </a:r>
            <a:endParaRPr lang="en-US" sz="1000" dirty="0"/>
          </a:p>
          <a:p>
            <a:pPr indent="0" marL="0">
              <a:buNone/>
            </a:pPr>
            <a:r>
              <a:rPr lang="en-US" sz="1000" dirty="0">
                <a:solidFill>
                  <a:srgbClr val="E6EDF3"/>
                </a:solidFill>
                <a:latin typeface="Consolas" pitchFamily="34" charset="0"/>
                <a:ea typeface="Consolas" pitchFamily="34" charset="-122"/>
                <a:cs typeface="Consolas" pitchFamily="34" charset="-120"/>
              </a:rPr>
              <a:t>docker build -t reto4-app:v2 --build-arg APP_VERSION=v2 app</a:t>
            </a:r>
            <a:endParaRPr lang="en-US" sz="1000" dirty="0"/>
          </a:p>
        </p:txBody>
      </p:sp>
      <p:sp>
        <p:nvSpPr>
          <p:cNvPr id="9" name="Text 7"/>
          <p:cNvSpPr txBox="1"/>
          <p:nvPr/>
        </p:nvSpPr>
        <p:spPr>
          <a:xfrm>
            <a:off x="5852160" y="1188720"/>
            <a:ext cx="2834640" cy="3383280"/>
          </a:xfrm>
          <a:prstGeom prst="rect">
            <a:avLst/>
          </a:prstGeom>
          <a:noFill/>
          <a:ln/>
        </p:spPr>
        <p:txBody>
          <a:bodyPr wrap="square" rtlCol="0" anchor="t"/>
          <a:lstStyle/>
          <a:p>
            <a:pPr marL="177800" indent="-177800">
              <a:spcAft>
                <a:spcPts val="600"/>
              </a:spcAft>
              <a:buSzPct val="100000"/>
              <a:buChar char="•"/>
            </a:pPr>
            <a:r>
              <a:rPr lang="en-US" sz="1400" dirty="0">
                <a:solidFill>
                  <a:schemeClr val="tx1"/>
                </a:solidFill>
              </a:rPr>
              <a:t>Node.js sin dependencias externas</a:t>
            </a:r>
            <a:endParaRPr lang="en-US" sz="1400" dirty="0"/>
          </a:p>
          <a:p>
            <a:pPr marL="177800" indent="-177800">
              <a:spcAft>
                <a:spcPts val="600"/>
              </a:spcAft>
              <a:buSzPct val="100000"/>
              <a:buChar char="•"/>
            </a:pPr>
            <a:r>
              <a:rPr lang="en-US" sz="1400" dirty="0">
                <a:solidFill>
                  <a:schemeClr val="tx1"/>
                </a:solidFill>
              </a:rPr>
              <a:t>Responde qué versión y qué pod atendió</a:t>
            </a:r>
            <a:endParaRPr lang="en-US" sz="1400" dirty="0"/>
          </a:p>
          <a:p>
            <a:pPr marL="177800" indent="-177800">
              <a:spcAft>
                <a:spcPts val="600"/>
              </a:spcAft>
              <a:buSzPct val="100000"/>
              <a:buChar char="•"/>
            </a:pPr>
            <a:r>
              <a:rPr lang="en-US" sz="1400" dirty="0">
                <a:solidFill>
                  <a:schemeClr val="tx1"/>
                </a:solidFill>
              </a:rPr>
              <a:t>Devuelve las cabeceras recibidas: así vemos lo que llegó</a:t>
            </a:r>
            <a:endParaRPr lang="en-US" sz="1400" dirty="0"/>
          </a:p>
          <a:p>
            <a:pPr marL="177800" indent="-177800">
              <a:spcAft>
                <a:spcPts val="600"/>
              </a:spcAft>
              <a:buSzPct val="100000"/>
              <a:buChar char="•"/>
            </a:pPr>
            <a:r>
              <a:rPr lang="en-US" sz="1400" b="1" dirty="0">
                <a:solidFill>
                  <a:srgbClr val="0B8A8F"/>
                </a:solidFill>
              </a:rPr>
              <a:t>La app no sabe nada de ruteo: no tiene un solo if por cabecera</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La regla: HTTPRoute por cabecera</a:t>
            </a:r>
            <a:endParaRPr lang="en-US" sz="2800" dirty="0"/>
          </a:p>
        </p:txBody>
      </p:sp>
      <p:sp>
        <p:nvSpPr>
          <p:cNvPr id="3" name="fondo-codigo"/>
          <p:cNvSpPr/>
          <p:nvPr/>
        </p:nvSpPr>
        <p:spPr>
          <a:xfrm>
            <a:off x="457200" y="1097280"/>
            <a:ext cx="5394960" cy="3429000"/>
          </a:xfrm>
          <a:prstGeom prst="roundRect">
            <a:avLst>
              <a:gd name="adj" fmla="val 2133"/>
            </a:avLst>
          </a:prstGeom>
          <a:solidFill>
            <a:srgbClr val="17202B"/>
          </a:solidFill>
          <a:ln/>
        </p:spPr>
      </p:sp>
      <p:sp>
        <p:nvSpPr>
          <p:cNvPr id="4" name="Text 2"/>
          <p:cNvSpPr txBox="1"/>
          <p:nvPr/>
        </p:nvSpPr>
        <p:spPr>
          <a:xfrm>
            <a:off x="594360" y="1170432"/>
            <a:ext cx="5120640" cy="228600"/>
          </a:xfrm>
          <a:prstGeom prst="rect">
            <a:avLst/>
          </a:prstGeom>
          <a:noFill/>
          <a:ln/>
        </p:spPr>
        <p:txBody>
          <a:bodyPr wrap="square" lIns="0" tIns="0" rIns="0" bIns="0" rtlCol="0" anchor="t"/>
          <a:lstStyle/>
          <a:p>
            <a:pPr indent="0" marL="0">
              <a:buNone/>
            </a:pPr>
            <a:r>
              <a:rPr lang="en-US" sz="1000" b="1" dirty="0">
                <a:solidFill>
                  <a:srgbClr val="7FE3D9"/>
                </a:solidFill>
              </a:rPr>
              <a:t>linkerd/httproute-header.yaml</a:t>
            </a:r>
            <a:endParaRPr lang="en-US" sz="1000" dirty="0"/>
          </a:p>
        </p:txBody>
      </p:sp>
      <p:sp>
        <p:nvSpPr>
          <p:cNvPr id="5" name="codigo"/>
          <p:cNvSpPr txBox="1"/>
          <p:nvPr/>
        </p:nvSpPr>
        <p:spPr>
          <a:xfrm>
            <a:off x="594360" y="1417320"/>
            <a:ext cx="5120640" cy="3017520"/>
          </a:xfrm>
          <a:prstGeom prst="rect">
            <a:avLst/>
          </a:prstGeom>
          <a:noFill/>
          <a:ln/>
        </p:spPr>
        <p:txBody>
          <a:bodyPr wrap="square" lIns="0" tIns="0" rIns="0" bIns="0" rtlCol="0" anchor="t"/>
          <a:lstStyle/>
          <a:p>
            <a:pPr indent="0" marL="0">
              <a:buNone/>
            </a:pPr>
            <a:r>
              <a:rPr lang="en-US" sz="1050" dirty="0">
                <a:solidFill>
                  <a:srgbClr val="E6EDF3"/>
                </a:solidFill>
                <a:latin typeface="Consolas" pitchFamily="34" charset="0"/>
                <a:ea typeface="Consolas" pitchFamily="34" charset="-122"/>
                <a:cs typeface="Consolas" pitchFamily="34" charset="-120"/>
              </a:rPr>
              <a:t>apiVersion: gateway.networking.k8s.io/v1</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kind: HTTPRoute</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metadata: { name: web-por-cabecera, namespace: reto4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spec:</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parentRefs:</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 { name: web, kind: Service, group: core, port: 80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rules:</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 matches:                          # OR entre matches</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 headers: [{ name: x-feature-flag, value: new-version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 headers: [{ name: user-agent,     value: experimental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backendRefs: [{ name: web-v2, port: 80 }]</a:t>
            </a:r>
            <a:endParaRPr lang="en-US" sz="1050" dirty="0"/>
          </a:p>
          <a:p>
            <a:pPr indent="0" marL="0">
              <a:buNone/>
            </a:pPr>
            <a:r>
              <a:rPr lang="en-US" sz="1050" dirty="0">
                <a:solidFill>
                  <a:srgbClr val="E6EDF3"/>
                </a:solidFill>
                <a:latin typeface="Consolas" pitchFamily="34" charset="0"/>
                <a:ea typeface="Consolas" pitchFamily="34" charset="-122"/>
                <a:cs typeface="Consolas" pitchFamily="34" charset="-120"/>
              </a:rPr>
              <a:t>    - backendRefs: [{ name: web-v1, port: 80 }]   # por defecto</a:t>
            </a:r>
            <a:endParaRPr lang="en-US" sz="1050" dirty="0"/>
          </a:p>
        </p:txBody>
      </p:sp>
      <p:sp>
        <p:nvSpPr>
          <p:cNvPr id="6" name="numero"/>
          <p:cNvSpPr/>
          <p:nvPr/>
        </p:nvSpPr>
        <p:spPr>
          <a:xfrm>
            <a:off x="6080760" y="1188720"/>
            <a:ext cx="384048" cy="384048"/>
          </a:xfrm>
          <a:prstGeom prst="ellipse">
            <a:avLst/>
          </a:prstGeom>
          <a:solidFill>
            <a:schemeClr val="accent1"/>
          </a:solidFill>
          <a:ln/>
        </p:spPr>
      </p:sp>
      <p:sp>
        <p:nvSpPr>
          <p:cNvPr id="7" name="Text 5"/>
          <p:cNvSpPr txBox="1"/>
          <p:nvPr/>
        </p:nvSpPr>
        <p:spPr>
          <a:xfrm>
            <a:off x="608076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6583680" y="1170432"/>
            <a:ext cx="2148840" cy="320040"/>
          </a:xfrm>
          <a:prstGeom prst="rect">
            <a:avLst/>
          </a:prstGeom>
          <a:noFill/>
          <a:ln/>
        </p:spPr>
        <p:txBody>
          <a:bodyPr wrap="square" lIns="0" tIns="0" rIns="0" bIns="0" rtlCol="0" anchor="t"/>
          <a:lstStyle/>
          <a:p>
            <a:pPr indent="0" marL="0">
              <a:buNone/>
            </a:pPr>
            <a:r>
              <a:rPr lang="en-US" sz="1400" b="1" dirty="0">
                <a:solidFill>
                  <a:schemeClr val="tx1"/>
                </a:solidFill>
              </a:rPr>
              <a:t>parentRef = Service web</a:t>
            </a:r>
            <a:endParaRPr lang="en-US" sz="1400" dirty="0"/>
          </a:p>
        </p:txBody>
      </p:sp>
      <p:sp>
        <p:nvSpPr>
          <p:cNvPr id="9" name="Text 7"/>
          <p:cNvSpPr txBox="1"/>
          <p:nvPr/>
        </p:nvSpPr>
        <p:spPr>
          <a:xfrm>
            <a:off x="6583680" y="1490472"/>
            <a:ext cx="2148840" cy="731520"/>
          </a:xfrm>
          <a:prstGeom prst="rect">
            <a:avLst/>
          </a:prstGeom>
          <a:noFill/>
          <a:ln/>
        </p:spPr>
        <p:txBody>
          <a:bodyPr wrap="square" lIns="0" tIns="0" rIns="0" bIns="0" rtlCol="0" anchor="t"/>
          <a:lstStyle/>
          <a:p>
            <a:pPr indent="0" marL="0">
              <a:buNone/>
            </a:pPr>
            <a:r>
              <a:rPr lang="en-US" sz="1200" dirty="0">
                <a:solidFill>
                  <a:srgbClr val="5B6675"/>
                </a:solidFill>
              </a:rPr>
              <a:t>La regla se aplica al tráfico dirigido a web</a:t>
            </a:r>
            <a:endParaRPr lang="en-US" sz="1200" dirty="0"/>
          </a:p>
        </p:txBody>
      </p:sp>
      <p:sp>
        <p:nvSpPr>
          <p:cNvPr id="10" name="numero"/>
          <p:cNvSpPr/>
          <p:nvPr/>
        </p:nvSpPr>
        <p:spPr>
          <a:xfrm>
            <a:off x="6080760" y="2286000"/>
            <a:ext cx="384048" cy="384048"/>
          </a:xfrm>
          <a:prstGeom prst="ellipse">
            <a:avLst/>
          </a:prstGeom>
          <a:solidFill>
            <a:srgbClr val="F26B1D"/>
          </a:solidFill>
          <a:ln/>
        </p:spPr>
      </p:sp>
      <p:sp>
        <p:nvSpPr>
          <p:cNvPr id="11" name="Text 9"/>
          <p:cNvSpPr txBox="1"/>
          <p:nvPr/>
        </p:nvSpPr>
        <p:spPr>
          <a:xfrm>
            <a:off x="6080760"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6583680" y="2267712"/>
            <a:ext cx="2148840" cy="320040"/>
          </a:xfrm>
          <a:prstGeom prst="rect">
            <a:avLst/>
          </a:prstGeom>
          <a:noFill/>
          <a:ln/>
        </p:spPr>
        <p:txBody>
          <a:bodyPr wrap="square" lIns="0" tIns="0" rIns="0" bIns="0" rtlCol="0" anchor="t"/>
          <a:lstStyle/>
          <a:p>
            <a:pPr indent="0" marL="0">
              <a:buNone/>
            </a:pPr>
            <a:r>
              <a:rPr lang="en-US" sz="1400" b="1" dirty="0">
                <a:solidFill>
                  <a:schemeClr val="tx1"/>
                </a:solidFill>
              </a:rPr>
              <a:t>Regla 1 → v2</a:t>
            </a:r>
            <a:endParaRPr lang="en-US" sz="1400" dirty="0"/>
          </a:p>
        </p:txBody>
      </p:sp>
      <p:sp>
        <p:nvSpPr>
          <p:cNvPr id="13" name="Text 11"/>
          <p:cNvSpPr txBox="1"/>
          <p:nvPr/>
        </p:nvSpPr>
        <p:spPr>
          <a:xfrm>
            <a:off x="6583680" y="2587752"/>
            <a:ext cx="2148840" cy="731520"/>
          </a:xfrm>
          <a:prstGeom prst="rect">
            <a:avLst/>
          </a:prstGeom>
          <a:noFill/>
          <a:ln/>
        </p:spPr>
        <p:txBody>
          <a:bodyPr wrap="square" lIns="0" tIns="0" rIns="0" bIns="0" rtlCol="0" anchor="t"/>
          <a:lstStyle/>
          <a:p>
            <a:pPr indent="0" marL="0">
              <a:buNone/>
            </a:pPr>
            <a:r>
              <a:rPr lang="en-US" sz="1200" dirty="0">
                <a:solidFill>
                  <a:srgbClr val="5B6675"/>
                </a:solidFill>
              </a:rPr>
              <a:t>Cualquiera de las dos cabeceras (nombre sin distinguir mayúsculas, valor exacto)</a:t>
            </a:r>
            <a:endParaRPr lang="en-US" sz="1200" dirty="0"/>
          </a:p>
        </p:txBody>
      </p:sp>
      <p:sp>
        <p:nvSpPr>
          <p:cNvPr id="14" name="numero"/>
          <p:cNvSpPr/>
          <p:nvPr/>
        </p:nvSpPr>
        <p:spPr>
          <a:xfrm>
            <a:off x="6080760" y="3383280"/>
            <a:ext cx="384048" cy="384048"/>
          </a:xfrm>
          <a:prstGeom prst="ellipse">
            <a:avLst/>
          </a:prstGeom>
          <a:solidFill>
            <a:srgbClr val="2563EB"/>
          </a:solidFill>
          <a:ln/>
        </p:spPr>
      </p:sp>
      <p:sp>
        <p:nvSpPr>
          <p:cNvPr id="15" name="Text 13"/>
          <p:cNvSpPr txBox="1"/>
          <p:nvPr/>
        </p:nvSpPr>
        <p:spPr>
          <a:xfrm>
            <a:off x="608076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6583680" y="3364992"/>
            <a:ext cx="2148840" cy="320040"/>
          </a:xfrm>
          <a:prstGeom prst="rect">
            <a:avLst/>
          </a:prstGeom>
          <a:noFill/>
          <a:ln/>
        </p:spPr>
        <p:txBody>
          <a:bodyPr wrap="square" lIns="0" tIns="0" rIns="0" bIns="0" rtlCol="0" anchor="t"/>
          <a:lstStyle/>
          <a:p>
            <a:pPr indent="0" marL="0">
              <a:buNone/>
            </a:pPr>
            <a:r>
              <a:rPr lang="en-US" sz="1400" b="1" dirty="0">
                <a:solidFill>
                  <a:schemeClr val="tx1"/>
                </a:solidFill>
              </a:rPr>
              <a:t>Regla 2 → v1</a:t>
            </a:r>
            <a:endParaRPr lang="en-US" sz="1400" dirty="0"/>
          </a:p>
        </p:txBody>
      </p:sp>
      <p:sp>
        <p:nvSpPr>
          <p:cNvPr id="17" name="Text 15"/>
          <p:cNvSpPr txBox="1"/>
          <p:nvPr/>
        </p:nvSpPr>
        <p:spPr>
          <a:xfrm>
            <a:off x="6583680" y="3685032"/>
            <a:ext cx="2148840" cy="731520"/>
          </a:xfrm>
          <a:prstGeom prst="rect">
            <a:avLst/>
          </a:prstGeom>
          <a:noFill/>
          <a:ln/>
        </p:spPr>
        <p:txBody>
          <a:bodyPr wrap="square" lIns="0" tIns="0" rIns="0" bIns="0" rtlCol="0" anchor="t"/>
          <a:lstStyle/>
          <a:p>
            <a:pPr indent="0" marL="0">
              <a:buNone/>
            </a:pPr>
            <a:r>
              <a:rPr lang="en-US" sz="1200" dirty="0">
                <a:solidFill>
                  <a:srgbClr val="5B6675"/>
                </a:solidFill>
              </a:rPr>
              <a:t>Sin matches: atrapa todo lo demás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05840"/>
          </a:xfrm>
          <a:prstGeom prst="rect">
            <a:avLst/>
          </a:prstGeom>
          <a:noFill/>
          <a:ln/>
        </p:spPr>
        <p:txBody>
          <a:bodyPr wrap="square" lIns="0" tIns="0" rIns="0" bIns="0" rtlCol="0" anchor="ctr"/>
          <a:lstStyle/>
          <a:p>
            <a:pPr algn="l" indent="0" marL="0">
              <a:buNone/>
            </a:pPr>
            <a:r>
              <a:rPr lang="en-US" sz="4000" b="1" dirty="0">
                <a:solidFill>
                  <a:schemeClr val="bg1"/>
                </a:solidFill>
              </a:rPr>
              <a:t>5 · Pruebas</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indent="0" marL="0">
              <a:buNone/>
            </a:pPr>
            <a:r>
              <a:rPr lang="en-US" sz="1800" dirty="0">
                <a:solidFill>
                  <a:schemeClr val="bg1"/>
                </a:solidFill>
              </a:rPr>
              <a:t>curl con y sin cabecera: 20 peticiones por caso</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Antes vs después del HTTPRoute</a:t>
            </a:r>
            <a:endParaRPr lang="en-US" sz="2800" dirty="0"/>
          </a:p>
        </p:txBody>
      </p:sp>
      <p:pic>
        <p:nvPicPr>
          <p:cNvPr id="3" name="Image 0" descr="Sin HTTPRoute todas las peticiones van a v1">    </p:cNvPr>
          <p:cNvPicPr>
            <a:picLocks noChangeAspect="1"/>
          </p:cNvPicPr>
          <p:nvPr/>
        </p:nvPicPr>
        <p:blipFill>
          <a:blip r:embed="rId1"/>
          <a:stretch>
            <a:fillRect/>
          </a:stretch>
        </p:blipFill>
        <p:spPr>
          <a:xfrm>
            <a:off x="457200" y="960206"/>
            <a:ext cx="5394960" cy="1526875"/>
          </a:xfrm>
          <a:prstGeom prst="rect">
            <a:avLst/>
          </a:prstGeom>
        </p:spPr>
      </p:pic>
      <p:sp>
        <p:nvSpPr>
          <p:cNvPr id="4" name="Text 1"/>
          <p:cNvSpPr txBox="1"/>
          <p:nvPr/>
        </p:nvSpPr>
        <p:spPr>
          <a:xfrm>
            <a:off x="457200" y="2496312"/>
            <a:ext cx="5394960" cy="274320"/>
          </a:xfrm>
          <a:prstGeom prst="rect">
            <a:avLst/>
          </a:prstGeom>
          <a:noFill/>
          <a:ln/>
        </p:spPr>
        <p:txBody>
          <a:bodyPr wrap="square" lIns="0" tIns="0" rIns="0" bIns="0" rtlCol="0" anchor="t"/>
          <a:lstStyle/>
          <a:p>
            <a:pPr algn="ctr" indent="0" marL="0">
              <a:buNone/>
            </a:pPr>
            <a:r>
              <a:rPr lang="en-US" sz="1000" i="1" dirty="0">
                <a:solidFill>
                  <a:srgbClr val="5B6675"/>
                </a:solidFill>
              </a:rPr>
              <a:t>ANTES: la cabecera no cambia nada, todo va a v1</a:t>
            </a:r>
            <a:endParaRPr lang="en-US" sz="1000" dirty="0"/>
          </a:p>
        </p:txBody>
      </p:sp>
      <p:pic>
        <p:nvPicPr>
          <p:cNvPr id="5" name="Image 1" descr="Con HTTPRoute la cabecera decide la versión">    </p:cNvPr>
          <p:cNvPicPr>
            <a:picLocks noChangeAspect="1"/>
          </p:cNvPicPr>
          <p:nvPr/>
        </p:nvPicPr>
        <p:blipFill>
          <a:blip r:embed="rId2"/>
          <a:stretch>
            <a:fillRect/>
          </a:stretch>
        </p:blipFill>
        <p:spPr>
          <a:xfrm>
            <a:off x="457200" y="2789006"/>
            <a:ext cx="5394960" cy="1526875"/>
          </a:xfrm>
          <a:prstGeom prst="rect">
            <a:avLst/>
          </a:prstGeom>
        </p:spPr>
      </p:pic>
      <p:sp>
        <p:nvSpPr>
          <p:cNvPr id="6" name="Text 2"/>
          <p:cNvSpPr txBox="1"/>
          <p:nvPr/>
        </p:nvSpPr>
        <p:spPr>
          <a:xfrm>
            <a:off x="457200" y="4325112"/>
            <a:ext cx="5394960" cy="274320"/>
          </a:xfrm>
          <a:prstGeom prst="rect">
            <a:avLst/>
          </a:prstGeom>
          <a:noFill/>
          <a:ln/>
        </p:spPr>
        <p:txBody>
          <a:bodyPr wrap="square" lIns="0" tIns="0" rIns="0" bIns="0" rtlCol="0" anchor="t"/>
          <a:lstStyle/>
          <a:p>
            <a:pPr algn="ctr" indent="0" marL="0">
              <a:buNone/>
            </a:pPr>
            <a:r>
              <a:rPr lang="en-US" sz="1000" i="1" dirty="0">
                <a:solidFill>
                  <a:srgbClr val="5B6675"/>
                </a:solidFill>
              </a:rPr>
              <a:t>DESPUÉS: la cabecera lleva el tráfico a v2</a:t>
            </a:r>
            <a:endParaRPr lang="en-US" sz="1000" dirty="0"/>
          </a:p>
        </p:txBody>
      </p:sp>
      <p:sp>
        <p:nvSpPr>
          <p:cNvPr id="7" name="tarjeta"/>
          <p:cNvSpPr/>
          <p:nvPr/>
        </p:nvSpPr>
        <p:spPr>
          <a:xfrm>
            <a:off x="6126480" y="960120"/>
            <a:ext cx="2560320" cy="3611880"/>
          </a:xfrm>
          <a:prstGeom prst="roundRect">
            <a:avLst>
              <a:gd name="adj" fmla="val 3571"/>
            </a:avLst>
          </a:prstGeom>
          <a:solidFill>
            <a:srgbClr val="DDF3F3"/>
          </a:solidFill>
          <a:ln/>
        </p:spPr>
      </p:sp>
      <p:sp>
        <p:nvSpPr>
          <p:cNvPr id="8" name="Text 4"/>
          <p:cNvSpPr txBox="1"/>
          <p:nvPr/>
        </p:nvSpPr>
        <p:spPr>
          <a:xfrm>
            <a:off x="6309360" y="1143000"/>
            <a:ext cx="2194560" cy="3291840"/>
          </a:xfrm>
          <a:prstGeom prst="rect">
            <a:avLst/>
          </a:prstGeom>
          <a:noFill/>
          <a:ln/>
        </p:spPr>
        <p:txBody>
          <a:bodyPr wrap="square" lIns="0" tIns="0" rIns="0" bIns="0" rtlCol="0" anchor="ctr"/>
          <a:lstStyle/>
          <a:p>
            <a:pPr indent="0" marL="0">
              <a:buNone/>
            </a:pPr>
            <a:r>
              <a:rPr lang="en-US" sz="1500" b="1" dirty="0">
                <a:solidFill>
                  <a:srgbClr val="0B8A8F"/>
                </a:solidFill>
              </a:rPr>
              <a:t>Lo que demuestra</a:t>
            </a:r>
            <a:endParaRPr lang="en-US" sz="1500" dirty="0"/>
          </a:p>
          <a:p>
            <a:pPr indent="0" marL="0">
              <a:buNone/>
            </a:pPr>
            <a:r>
              <a:rPr lang="en-US" sz="1500" dirty="0">
                <a:solidFill>
                  <a:srgbClr val="1F2A37"/>
                </a:solidFill>
              </a:rPr>
              <a:t>Misma app y mismas cabeceras en las dos pruebas.</a:t>
            </a:r>
            <a:endParaRPr lang="en-US" sz="1500" dirty="0"/>
          </a:p>
          <a:p>
            <a:pPr indent="0" marL="0">
              <a:buNone/>
            </a:pPr>
            <a:r>
              <a:rPr lang="en-US" sz="800" dirty="0">
                <a:solidFill>
                  <a:srgbClr val="1F2A37"/>
                </a:solidFill>
              </a:rPr>
              <a:t> </a:t>
            </a:r>
            <a:endParaRPr lang="en-US" sz="1500" dirty="0"/>
          </a:p>
          <a:p>
            <a:pPr indent="0" marL="0">
              <a:buNone/>
            </a:pPr>
            <a:r>
              <a:rPr lang="en-US" sz="1500" b="1" dirty="0">
                <a:solidFill>
                  <a:srgbClr val="1F2A37"/>
                </a:solidFill>
              </a:rPr>
              <a:t>El único cambio es el HTTPRoute: el desvío lo hace Linkerd, no el código.</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Resultados</a:t>
            </a:r>
            <a:endParaRPr lang="en-US" sz="2800" dirty="0"/>
          </a:p>
        </p:txBody>
      </p:sp>
      <p:sp>
        <p:nvSpPr>
          <p:cNvPr id="3" name="tarjeta"/>
          <p:cNvSpPr/>
          <p:nvPr/>
        </p:nvSpPr>
        <p:spPr>
          <a:xfrm>
            <a:off x="457200" y="1097280"/>
            <a:ext cx="2743200" cy="3429000"/>
          </a:xfrm>
          <a:prstGeom prst="roundRect">
            <a:avLst>
              <a:gd name="adj" fmla="val 3333"/>
            </a:avLst>
          </a:prstGeom>
          <a:solidFill>
            <a:srgbClr val="1F2A37"/>
          </a:solidFill>
          <a:ln/>
        </p:spPr>
      </p:sp>
      <p:sp>
        <p:nvSpPr>
          <p:cNvPr id="4" name="Text 2"/>
          <p:cNvSpPr txBox="1"/>
          <p:nvPr/>
        </p:nvSpPr>
        <p:spPr>
          <a:xfrm>
            <a:off x="548640" y="1508760"/>
            <a:ext cx="2560320" cy="914400"/>
          </a:xfrm>
          <a:prstGeom prst="rect">
            <a:avLst/>
          </a:prstGeom>
          <a:noFill/>
          <a:ln/>
        </p:spPr>
        <p:txBody>
          <a:bodyPr wrap="square" lIns="0" tIns="0" rIns="0" bIns="0" rtlCol="0" anchor="t"/>
          <a:lstStyle/>
          <a:p>
            <a:pPr algn="ctr" indent="0" marL="0">
              <a:buNone/>
            </a:pPr>
            <a:r>
              <a:rPr lang="en-US" sz="4800" b="1" dirty="0">
                <a:solidFill>
                  <a:srgbClr val="7FE3D9"/>
                </a:solidFill>
              </a:rPr>
              <a:t>100/100</a:t>
            </a:r>
            <a:endParaRPr lang="en-US" sz="4800" dirty="0"/>
          </a:p>
        </p:txBody>
      </p:sp>
      <p:sp>
        <p:nvSpPr>
          <p:cNvPr id="5" name="Text 3"/>
          <p:cNvSpPr txBox="1"/>
          <p:nvPr/>
        </p:nvSpPr>
        <p:spPr>
          <a:xfrm>
            <a:off x="640080" y="2468880"/>
            <a:ext cx="2377440" cy="640080"/>
          </a:xfrm>
          <a:prstGeom prst="rect">
            <a:avLst/>
          </a:prstGeom>
          <a:noFill/>
          <a:ln/>
        </p:spPr>
        <p:txBody>
          <a:bodyPr wrap="square" lIns="0" tIns="0" rIns="0" bIns="0" rtlCol="0" anchor="t"/>
          <a:lstStyle/>
          <a:p>
            <a:pPr algn="ctr" indent="0" marL="0">
              <a:buNone/>
            </a:pPr>
            <a:r>
              <a:rPr lang="en-US" sz="1500" dirty="0">
                <a:solidFill>
                  <a:schemeClr val="bg1"/>
                </a:solidFill>
              </a:rPr>
              <a:t>peticiones llegaron a la versión esperada</a:t>
            </a:r>
            <a:endParaRPr lang="en-US" sz="1500" dirty="0"/>
          </a:p>
        </p:txBody>
      </p:sp>
      <p:sp>
        <p:nvSpPr>
          <p:cNvPr id="6" name="Text 4"/>
          <p:cNvSpPr txBox="1"/>
          <p:nvPr/>
        </p:nvSpPr>
        <p:spPr>
          <a:xfrm>
            <a:off x="640080" y="3291840"/>
            <a:ext cx="2377440" cy="640080"/>
          </a:xfrm>
          <a:prstGeom prst="rect">
            <a:avLst/>
          </a:prstGeom>
          <a:noFill/>
          <a:ln/>
        </p:spPr>
        <p:txBody>
          <a:bodyPr wrap="square" lIns="0" tIns="0" rIns="0" bIns="0" rtlCol="0" anchor="t"/>
          <a:lstStyle/>
          <a:p>
            <a:pPr algn="ctr" indent="0" marL="0">
              <a:buNone/>
            </a:pPr>
            <a:r>
              <a:rPr lang="en-US" sz="1200" dirty="0">
                <a:solidFill>
                  <a:srgbClr val="AAB4C3"/>
                </a:solidFill>
              </a:rPr>
              <a:t>0 errores · desde el PC y desde el pod cliente</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474720" y="1097280"/>
          <a:ext cx="5212080" cy="914400"/>
        </p:xfrm>
        <a:graphic>
          <a:graphicData uri="http://schemas.openxmlformats.org/drawingml/2006/table">
            <a:tbl>
              <a:tblPr/>
              <a:tblGrid>
                <a:gridCol w="2514600"/>
                <a:gridCol w="868680"/>
                <a:gridCol w="594360"/>
                <a:gridCol w="594360"/>
                <a:gridCol w="64008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Caso (20 peticiones c/u)</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Esperado</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v1</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v2</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2A37"/>
                    </a:solidFill>
                  </a:tcPr>
                </a:tc>
              </a:tr>
              <a:tr h="47548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Sin cabecera</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2563EB"/>
                          </a:solidFill>
                          <a:latin typeface="Calibri" pitchFamily="34" charset="0"/>
                          <a:ea typeface="Calibri" pitchFamily="34" charset="-122"/>
                          <a:cs typeface="Calibri" pitchFamily="34" charset="-120"/>
                        </a:rPr>
                        <a:t>v1</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1A7F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X-Feature-Flag: new-version</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F26B1D"/>
                          </a:solidFill>
                          <a:latin typeface="Calibri" pitchFamily="34" charset="0"/>
                          <a:ea typeface="Calibri" pitchFamily="34" charset="-122"/>
                          <a:cs typeface="Calibri" pitchFamily="34" charset="-120"/>
                        </a:rPr>
                        <a:t>v2</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1A7F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X-Feature-Flag: otro-valor</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2563EB"/>
                          </a:solidFill>
                          <a:latin typeface="Calibri" pitchFamily="34" charset="0"/>
                          <a:ea typeface="Calibri" pitchFamily="34" charset="-122"/>
                          <a:cs typeface="Calibri" pitchFamily="34" charset="-120"/>
                        </a:rPr>
                        <a:t>v1</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1A7F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User-Agent: experimental</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F26B1D"/>
                          </a:solidFill>
                          <a:latin typeface="Calibri" pitchFamily="34" charset="0"/>
                          <a:ea typeface="Calibri" pitchFamily="34" charset="-122"/>
                          <a:cs typeface="Calibri" pitchFamily="34" charset="-120"/>
                        </a:rPr>
                        <a:t>v2</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1A7F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x-feature-flag (minúsculas)</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F26B1D"/>
                          </a:solidFill>
                          <a:latin typeface="Calibri" pitchFamily="34" charset="0"/>
                          <a:ea typeface="Calibri" pitchFamily="34" charset="-122"/>
                          <a:cs typeface="Calibri" pitchFamily="34" charset="-120"/>
                        </a:rPr>
                        <a:t>v2</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300" b="1" dirty="0">
                          <a:solidFill>
                            <a:srgbClr val="1A7F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8" name="Text 5"/>
          <p:cNvSpPr txBox="1"/>
          <p:nvPr/>
        </p:nvSpPr>
        <p:spPr>
          <a:xfrm>
            <a:off x="3474720" y="4069080"/>
            <a:ext cx="5212080" cy="457200"/>
          </a:xfrm>
          <a:prstGeom prst="rect">
            <a:avLst/>
          </a:prstGeom>
          <a:noFill/>
          <a:ln/>
        </p:spPr>
        <p:txBody>
          <a:bodyPr wrap="square" lIns="0" tIns="0" rIns="0" bIns="0" rtlCol="0" anchor="t"/>
          <a:lstStyle/>
          <a:p>
            <a:pPr indent="0" marL="0">
              <a:buNone/>
            </a:pPr>
            <a:r>
              <a:rPr lang="en-US" sz="1300" i="1" dirty="0">
                <a:solidFill>
                  <a:srgbClr val="5B6675"/>
                </a:solidFill>
              </a:rPr>
              <a:t>También probamos casos negativos: otro valor de la cabecera sigue yendo a v1</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Una petición por dentro</a:t>
            </a:r>
            <a:endParaRPr lang="en-US" sz="2800" dirty="0"/>
          </a:p>
        </p:txBody>
      </p:sp>
      <p:sp>
        <p:nvSpPr>
          <p:cNvPr id="3" name="fondo-codigo"/>
          <p:cNvSpPr/>
          <p:nvPr/>
        </p:nvSpPr>
        <p:spPr>
          <a:xfrm>
            <a:off x="457200" y="1097280"/>
            <a:ext cx="5120640" cy="3429000"/>
          </a:xfrm>
          <a:prstGeom prst="roundRect">
            <a:avLst>
              <a:gd name="adj" fmla="val 2133"/>
            </a:avLst>
          </a:prstGeom>
          <a:solidFill>
            <a:srgbClr val="17202B"/>
          </a:solidFill>
          <a:ln/>
        </p:spPr>
      </p:sp>
      <p:sp>
        <p:nvSpPr>
          <p:cNvPr id="4" name="Text 2"/>
          <p:cNvSpPr txBox="1"/>
          <p:nvPr/>
        </p:nvSpPr>
        <p:spPr>
          <a:xfrm>
            <a:off x="594360" y="1170432"/>
            <a:ext cx="4846320" cy="228600"/>
          </a:xfrm>
          <a:prstGeom prst="rect">
            <a:avLst/>
          </a:prstGeom>
          <a:noFill/>
          <a:ln/>
        </p:spPr>
        <p:txBody>
          <a:bodyPr wrap="square" lIns="0" tIns="0" rIns="0" bIns="0" rtlCol="0" anchor="t"/>
          <a:lstStyle/>
          <a:p>
            <a:pPr indent="0" marL="0">
              <a:buNone/>
            </a:pPr>
            <a:r>
              <a:rPr lang="en-US" sz="1000" b="1" dirty="0">
                <a:solidFill>
                  <a:srgbClr val="7FE3D9"/>
                </a:solidFill>
              </a:rPr>
              <a:t>Terminal</a:t>
            </a:r>
            <a:endParaRPr lang="en-US" sz="1000" dirty="0"/>
          </a:p>
        </p:txBody>
      </p:sp>
      <p:sp>
        <p:nvSpPr>
          <p:cNvPr id="5" name="codigo"/>
          <p:cNvSpPr txBox="1"/>
          <p:nvPr/>
        </p:nvSpPr>
        <p:spPr>
          <a:xfrm>
            <a:off x="594360" y="1417320"/>
            <a:ext cx="4846320" cy="3017520"/>
          </a:xfrm>
          <a:prstGeom prst="rect">
            <a:avLst/>
          </a:prstGeom>
          <a:noFill/>
          <a:ln/>
        </p:spPr>
        <p:txBody>
          <a:bodyPr wrap="square" lIns="0" tIns="0" rIns="0" bIns="0" rtlCol="0" anchor="t"/>
          <a:lstStyle/>
          <a:p>
            <a:pPr indent="0" marL="0">
              <a:buNone/>
            </a:pPr>
            <a:r>
              <a:rPr lang="en-US" sz="1100" dirty="0">
                <a:solidFill>
                  <a:srgbClr val="E6EDF3"/>
                </a:solidFill>
                <a:latin typeface="Consolas" pitchFamily="34" charset="0"/>
                <a:ea typeface="Consolas" pitchFamily="34" charset="-122"/>
                <a:cs typeface="Consolas" pitchFamily="34" charset="-120"/>
              </a:rPr>
              <a:t>$ curl -i -H "X-Feature-Flag: new-version" http://localhost:8080/</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HTTP/1.1 200 OK</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x-app-version: v2</a:t>
            </a:r>
            <a:endParaRPr lang="en-US" sz="1100" dirty="0"/>
          </a:p>
          <a:p>
            <a:pPr indent="0" marL="0">
              <a:buNone/>
            </a:pP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"version": "v2",</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"mensaje": "Nueva version (feature flag activo)",</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"pod": "web-v2-5bcff59747-gnzbz",</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"cabeceras": { "x-feature-flag": "new-version",</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"user-agent": "curl/8.16.0" }</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6" name="tarjeta"/>
          <p:cNvSpPr/>
          <p:nvPr/>
        </p:nvSpPr>
        <p:spPr>
          <a:xfrm>
            <a:off x="5852160" y="1143000"/>
            <a:ext cx="2834640" cy="960120"/>
          </a:xfrm>
          <a:prstGeom prst="roundRect">
            <a:avLst>
              <a:gd name="adj" fmla="val 9524"/>
            </a:avLst>
          </a:prstGeom>
          <a:solidFill>
            <a:srgbClr val="F3F5F8"/>
          </a:solidFill>
          <a:ln/>
          <a:effectLst>
            <a:outerShdw sx="100000" sy="100000" kx="0" ky="0" algn="bl" rotWithShape="0" blurRad="76200" dist="25400" dir="5400000">
              <a:srgbClr val="000000">
                <a:alpha val="12000"/>
              </a:srgbClr>
            </a:outerShdw>
          </a:effectLst>
        </p:spPr>
      </p:sp>
      <p:sp>
        <p:nvSpPr>
          <p:cNvPr id="7" name="Text 5"/>
          <p:cNvSpPr txBox="1"/>
          <p:nvPr/>
        </p:nvSpPr>
        <p:spPr>
          <a:xfrm>
            <a:off x="6035040" y="1234440"/>
            <a:ext cx="2560320" cy="320040"/>
          </a:xfrm>
          <a:prstGeom prst="rect">
            <a:avLst/>
          </a:prstGeom>
          <a:noFill/>
          <a:ln/>
        </p:spPr>
        <p:txBody>
          <a:bodyPr wrap="square" lIns="0" tIns="0" rIns="0" bIns="0" rtlCol="0" anchor="t"/>
          <a:lstStyle/>
          <a:p>
            <a:pPr indent="0" marL="0">
              <a:buNone/>
            </a:pPr>
            <a:r>
              <a:rPr lang="en-US" sz="1500" b="1" dirty="0">
                <a:solidFill>
                  <a:schemeClr val="tx1"/>
                </a:solidFill>
              </a:rPr>
              <a:t>x-app-version</a:t>
            </a:r>
            <a:endParaRPr lang="en-US" sz="1500" dirty="0"/>
          </a:p>
        </p:txBody>
      </p:sp>
      <p:sp>
        <p:nvSpPr>
          <p:cNvPr id="8" name="Text 6"/>
          <p:cNvSpPr txBox="1"/>
          <p:nvPr/>
        </p:nvSpPr>
        <p:spPr>
          <a:xfrm>
            <a:off x="6035040" y="1581912"/>
            <a:ext cx="2560320" cy="457200"/>
          </a:xfrm>
          <a:prstGeom prst="rect">
            <a:avLst/>
          </a:prstGeom>
          <a:noFill/>
          <a:ln/>
        </p:spPr>
        <p:txBody>
          <a:bodyPr wrap="square" lIns="0" tIns="0" rIns="0" bIns="0" rtlCol="0" anchor="t"/>
          <a:lstStyle/>
          <a:p>
            <a:pPr indent="0" marL="0">
              <a:buNone/>
            </a:pPr>
            <a:r>
              <a:rPr lang="en-US" sz="1200" dirty="0">
                <a:solidFill>
                  <a:srgbClr val="5B6675"/>
                </a:solidFill>
              </a:rPr>
              <a:t>Cabecera de respuesta con la versión que atendió</a:t>
            </a:r>
            <a:endParaRPr lang="en-US" sz="1200" dirty="0"/>
          </a:p>
        </p:txBody>
      </p:sp>
      <p:sp>
        <p:nvSpPr>
          <p:cNvPr id="9" name="tarjeta"/>
          <p:cNvSpPr/>
          <p:nvPr/>
        </p:nvSpPr>
        <p:spPr>
          <a:xfrm>
            <a:off x="5852160" y="2286000"/>
            <a:ext cx="2834640" cy="960120"/>
          </a:xfrm>
          <a:prstGeom prst="roundRect">
            <a:avLst>
              <a:gd name="adj" fmla="val 9524"/>
            </a:avLst>
          </a:prstGeom>
          <a:solidFill>
            <a:srgbClr val="F3F5F8"/>
          </a:solidFill>
          <a:ln/>
          <a:effectLst>
            <a:outerShdw sx="100000" sy="100000" kx="0" ky="0" algn="bl" rotWithShape="0" blurRad="76200" dist="25400" dir="5400000">
              <a:srgbClr val="000000">
                <a:alpha val="12000"/>
              </a:srgbClr>
            </a:outerShdw>
          </a:effectLst>
        </p:spPr>
      </p:sp>
      <p:sp>
        <p:nvSpPr>
          <p:cNvPr id="10" name="Text 8"/>
          <p:cNvSpPr txBox="1"/>
          <p:nvPr/>
        </p:nvSpPr>
        <p:spPr>
          <a:xfrm>
            <a:off x="6035040" y="2377440"/>
            <a:ext cx="2560320" cy="320040"/>
          </a:xfrm>
          <a:prstGeom prst="rect">
            <a:avLst/>
          </a:prstGeom>
          <a:noFill/>
          <a:ln/>
        </p:spPr>
        <p:txBody>
          <a:bodyPr wrap="square" lIns="0" tIns="0" rIns="0" bIns="0" rtlCol="0" anchor="t"/>
          <a:lstStyle/>
          <a:p>
            <a:pPr indent="0" marL="0">
              <a:buNone/>
            </a:pPr>
            <a:r>
              <a:rPr lang="en-US" sz="1500" b="1" dirty="0">
                <a:solidFill>
                  <a:schemeClr val="tx1"/>
                </a:solidFill>
              </a:rPr>
              <a:t>pod</a:t>
            </a:r>
            <a:endParaRPr lang="en-US" sz="1500" dirty="0"/>
          </a:p>
        </p:txBody>
      </p:sp>
      <p:sp>
        <p:nvSpPr>
          <p:cNvPr id="11" name="Text 9"/>
          <p:cNvSpPr txBox="1"/>
          <p:nvPr/>
        </p:nvSpPr>
        <p:spPr>
          <a:xfrm>
            <a:off x="6035040" y="2724912"/>
            <a:ext cx="2560320" cy="457200"/>
          </a:xfrm>
          <a:prstGeom prst="rect">
            <a:avLst/>
          </a:prstGeom>
          <a:noFill/>
          <a:ln/>
        </p:spPr>
        <p:txBody>
          <a:bodyPr wrap="square" lIns="0" tIns="0" rIns="0" bIns="0" rtlCol="0" anchor="t"/>
          <a:lstStyle/>
          <a:p>
            <a:pPr indent="0" marL="0">
              <a:buNone/>
            </a:pPr>
            <a:r>
              <a:rPr lang="en-US" sz="1200" dirty="0">
                <a:solidFill>
                  <a:srgbClr val="5B6675"/>
                </a:solidFill>
              </a:rPr>
              <a:t>Nombre real del pod: web-v2-…</a:t>
            </a:r>
            <a:endParaRPr lang="en-US" sz="1200" dirty="0"/>
          </a:p>
        </p:txBody>
      </p:sp>
      <p:sp>
        <p:nvSpPr>
          <p:cNvPr id="12" name="tarjeta"/>
          <p:cNvSpPr/>
          <p:nvPr/>
        </p:nvSpPr>
        <p:spPr>
          <a:xfrm>
            <a:off x="5852160" y="3429000"/>
            <a:ext cx="2834640" cy="960120"/>
          </a:xfrm>
          <a:prstGeom prst="roundRect">
            <a:avLst>
              <a:gd name="adj" fmla="val 9524"/>
            </a:avLst>
          </a:prstGeom>
          <a:solidFill>
            <a:srgbClr val="F3F5F8"/>
          </a:solidFill>
          <a:ln/>
          <a:effectLst>
            <a:outerShdw sx="100000" sy="100000" kx="0" ky="0" algn="bl" rotWithShape="0" blurRad="76200" dist="25400" dir="5400000">
              <a:srgbClr val="000000">
                <a:alpha val="12000"/>
              </a:srgbClr>
            </a:outerShdw>
          </a:effectLst>
        </p:spPr>
      </p:sp>
      <p:sp>
        <p:nvSpPr>
          <p:cNvPr id="13" name="Text 11"/>
          <p:cNvSpPr txBox="1"/>
          <p:nvPr/>
        </p:nvSpPr>
        <p:spPr>
          <a:xfrm>
            <a:off x="6035040" y="3520440"/>
            <a:ext cx="2560320" cy="320040"/>
          </a:xfrm>
          <a:prstGeom prst="rect">
            <a:avLst/>
          </a:prstGeom>
          <a:noFill/>
          <a:ln/>
        </p:spPr>
        <p:txBody>
          <a:bodyPr wrap="square" lIns="0" tIns="0" rIns="0" bIns="0" rtlCol="0" anchor="t"/>
          <a:lstStyle/>
          <a:p>
            <a:pPr indent="0" marL="0">
              <a:buNone/>
            </a:pPr>
            <a:r>
              <a:rPr lang="en-US" sz="1500" b="1" dirty="0">
                <a:solidFill>
                  <a:schemeClr val="tx1"/>
                </a:solidFill>
              </a:rPr>
              <a:t>Postman</a:t>
            </a:r>
            <a:endParaRPr lang="en-US" sz="1500" dirty="0"/>
          </a:p>
        </p:txBody>
      </p:sp>
      <p:sp>
        <p:nvSpPr>
          <p:cNvPr id="14" name="Text 12"/>
          <p:cNvSpPr txBox="1"/>
          <p:nvPr/>
        </p:nvSpPr>
        <p:spPr>
          <a:xfrm>
            <a:off x="6035040" y="3867912"/>
            <a:ext cx="2560320" cy="457200"/>
          </a:xfrm>
          <a:prstGeom prst="rect">
            <a:avLst/>
          </a:prstGeom>
          <a:noFill/>
          <a:ln/>
        </p:spPr>
        <p:txBody>
          <a:bodyPr wrap="square" lIns="0" tIns="0" rIns="0" bIns="0" rtlCol="0" anchor="t"/>
          <a:lstStyle/>
          <a:p>
            <a:pPr indent="0" marL="0">
              <a:buNone/>
            </a:pPr>
            <a:r>
              <a:rPr lang="en-US" sz="1200" dirty="0">
                <a:solidFill>
                  <a:srgbClr val="5B6675"/>
                </a:solidFill>
              </a:rPr>
              <a:t>Las mismas 4 peticiones en docs/reto4.postman_collection.json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05840"/>
          </a:xfrm>
          <a:prstGeom prst="rect">
            <a:avLst/>
          </a:prstGeom>
          <a:noFill/>
          <a:ln/>
        </p:spPr>
        <p:txBody>
          <a:bodyPr wrap="square" lIns="0" tIns="0" rIns="0" bIns="0" rtlCol="0" anchor="ctr"/>
          <a:lstStyle/>
          <a:p>
            <a:pPr algn="l" indent="0" marL="0">
              <a:buNone/>
            </a:pPr>
            <a:r>
              <a:rPr lang="en-US" sz="4000" b="1" dirty="0">
                <a:solidFill>
                  <a:schemeClr val="bg1"/>
                </a:solidFill>
              </a:rPr>
              <a:t>6 · Observabilidad</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indent="0" marL="0">
              <a:buNone/>
            </a:pPr>
            <a:r>
              <a:rPr lang="en-US" sz="1800" dirty="0">
                <a:solidFill>
                  <a:schemeClr val="bg1"/>
                </a:solidFill>
              </a:rPr>
              <a:t>Linkerd viz: métricas sin instrumentar la aplicación</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Métricas por ruta, mTLS y tráfico en vivo</a:t>
            </a:r>
            <a:endParaRPr lang="en-US" sz="2800" dirty="0"/>
          </a:p>
        </p:txBody>
      </p:sp>
      <p:pic>
        <p:nvPicPr>
          <p:cNvPr id="3" name="Image 0" descr="stat-outbound: la ruta web-por-cabecera reparte entre web-v1 y web-v2; tap muestra peticiones a v2 con tls=true">    </p:cNvPr>
          <p:cNvPicPr>
            <a:picLocks noChangeAspect="1"/>
          </p:cNvPicPr>
          <p:nvPr/>
        </p:nvPicPr>
        <p:blipFill>
          <a:blip r:embed="rId1"/>
          <a:stretch>
            <a:fillRect/>
          </a:stretch>
        </p:blipFill>
        <p:spPr>
          <a:xfrm>
            <a:off x="457200" y="986958"/>
            <a:ext cx="5303520" cy="1500805"/>
          </a:xfrm>
          <a:prstGeom prst="rect">
            <a:avLst/>
          </a:prstGeom>
        </p:spPr>
      </p:pic>
      <p:sp>
        <p:nvSpPr>
          <p:cNvPr id="4" name="Text 1"/>
          <p:cNvSpPr txBox="1"/>
          <p:nvPr/>
        </p:nvSpPr>
        <p:spPr>
          <a:xfrm>
            <a:off x="457200" y="2560320"/>
            <a:ext cx="5303520" cy="274320"/>
          </a:xfrm>
          <a:prstGeom prst="rect">
            <a:avLst/>
          </a:prstGeom>
          <a:noFill/>
          <a:ln/>
        </p:spPr>
        <p:txBody>
          <a:bodyPr wrap="square" lIns="0" tIns="0" rIns="0" bIns="0" rtlCol="0" anchor="t"/>
          <a:lstStyle/>
          <a:p>
            <a:pPr algn="ctr" indent="0" marL="0">
              <a:buNone/>
            </a:pPr>
            <a:r>
              <a:rPr lang="en-US" sz="1000" i="1" dirty="0">
                <a:solidFill>
                  <a:srgbClr val="5B6675"/>
                </a:solidFill>
              </a:rPr>
              <a:t>stat-outbound: la ruta reparte 1,55 RPS a cada versión · tap: tls=true</a:t>
            </a:r>
            <a:endParaRPr lang="en-US" sz="1000" dirty="0"/>
          </a:p>
        </p:txBody>
      </p:sp>
      <p:pic>
        <p:nvPicPr>
          <p:cNvPr id="5" name="Image 1" descr="linkerd viz stat y edges: 100% de éxito y conexiones SECURED">    </p:cNvPr>
          <p:cNvPicPr>
            <a:picLocks noChangeAspect="1"/>
          </p:cNvPicPr>
          <p:nvPr/>
        </p:nvPicPr>
        <p:blipFill>
          <a:blip r:embed="rId2"/>
          <a:stretch>
            <a:fillRect/>
          </a:stretch>
        </p:blipFill>
        <p:spPr>
          <a:xfrm>
            <a:off x="1125924" y="2880360"/>
            <a:ext cx="3966072" cy="1463040"/>
          </a:xfrm>
          <a:prstGeom prst="rect">
            <a:avLst/>
          </a:prstGeom>
        </p:spPr>
      </p:pic>
      <p:sp>
        <p:nvSpPr>
          <p:cNvPr id="6" name="Text 2"/>
          <p:cNvSpPr txBox="1"/>
          <p:nvPr/>
        </p:nvSpPr>
        <p:spPr>
          <a:xfrm>
            <a:off x="457200" y="4389120"/>
            <a:ext cx="5303520" cy="274320"/>
          </a:xfrm>
          <a:prstGeom prst="rect">
            <a:avLst/>
          </a:prstGeom>
          <a:noFill/>
          <a:ln/>
        </p:spPr>
        <p:txBody>
          <a:bodyPr wrap="square" lIns="0" tIns="0" rIns="0" bIns="0" rtlCol="0" anchor="t"/>
          <a:lstStyle/>
          <a:p>
            <a:pPr algn="ctr" indent="0" marL="0">
              <a:buNone/>
            </a:pPr>
            <a:r>
              <a:rPr lang="en-US" sz="1000" i="1" dirty="0">
                <a:solidFill>
                  <a:srgbClr val="5B6675"/>
                </a:solidFill>
              </a:rPr>
              <a:t>stat: 100 % de éxito · edges: gateway → v1/v2 con SECURED √</a:t>
            </a:r>
            <a:endParaRPr lang="en-US" sz="1000" dirty="0"/>
          </a:p>
        </p:txBody>
      </p:sp>
      <p:sp>
        <p:nvSpPr>
          <p:cNvPr id="7" name="Text 3"/>
          <p:cNvSpPr txBox="1"/>
          <p:nvPr/>
        </p:nvSpPr>
        <p:spPr>
          <a:xfrm>
            <a:off x="5989320" y="1051560"/>
            <a:ext cx="2697480" cy="3474720"/>
          </a:xfrm>
          <a:prstGeom prst="rect">
            <a:avLst/>
          </a:prstGeom>
          <a:noFill/>
          <a:ln/>
        </p:spPr>
        <p:txBody>
          <a:bodyPr wrap="square" rtlCol="0" anchor="t"/>
          <a:lstStyle/>
          <a:p>
            <a:pPr marL="177800" indent="-177800">
              <a:spcAft>
                <a:spcPts val="600"/>
              </a:spcAft>
              <a:buSzPct val="100000"/>
              <a:buChar char="•"/>
            </a:pPr>
            <a:r>
              <a:rPr lang="en-US" sz="1300" dirty="0">
                <a:solidFill>
                  <a:schemeClr val="tx1"/>
                </a:solidFill>
              </a:rPr>
              <a:t>stat-outbound ve el tráfico desde el cliente: ruta y backend</a:t>
            </a:r>
            <a:endParaRPr lang="en-US" sz="1300" dirty="0"/>
          </a:p>
          <a:p>
            <a:pPr marL="177800" indent="-177800">
              <a:spcAft>
                <a:spcPts val="600"/>
              </a:spcAft>
              <a:buSzPct val="100000"/>
              <a:buChar char="•"/>
            </a:pPr>
            <a:r>
              <a:rPr lang="en-US" sz="1300" dirty="0">
                <a:solidFill>
                  <a:schemeClr val="tx1"/>
                </a:solidFill>
              </a:rPr>
              <a:t>tap: llegan a v2 peticiones dirigidas a web.reto4.svc</a:t>
            </a:r>
            <a:endParaRPr lang="en-US" sz="1300" dirty="0"/>
          </a:p>
          <a:p>
            <a:pPr marL="177800" indent="-177800">
              <a:spcAft>
                <a:spcPts val="600"/>
              </a:spcAft>
              <a:buSzPct val="100000"/>
              <a:buChar char="•"/>
            </a:pPr>
            <a:r>
              <a:rPr lang="en-US" sz="1300" dirty="0">
                <a:solidFill>
                  <a:schemeClr val="tx1"/>
                </a:solidFill>
              </a:rPr>
              <a:t>edges: todas las conexiones con mTLS automático</a:t>
            </a:r>
            <a:endParaRPr lang="en-US" sz="1300" dirty="0"/>
          </a:p>
          <a:p>
            <a:pPr marL="177800" indent="-177800">
              <a:spcAft>
                <a:spcPts val="600"/>
              </a:spcAft>
              <a:buSzPct val="100000"/>
              <a:buChar char="•"/>
            </a:pPr>
            <a:r>
              <a:rPr lang="en-US" sz="1300" dirty="0">
                <a:solidFill>
                  <a:schemeClr val="tx1"/>
                </a:solidFill>
              </a:rPr>
              <a:t>Latencia p99 de 1–2 ms: el proxy agrega muy poco</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Dashboard de Linkerd viz</a:t>
            </a:r>
            <a:endParaRPr lang="en-US" sz="2800" dirty="0"/>
          </a:p>
        </p:txBody>
      </p:sp>
      <p:pic>
        <p:nvPicPr>
          <p:cNvPr id="3" name="Image 0" descr="Dashboard del namespace reto4 con grafo y métricas">    </p:cNvPr>
          <p:cNvPicPr>
            <a:picLocks noChangeAspect="1"/>
          </p:cNvPicPr>
          <p:nvPr/>
        </p:nvPicPr>
        <p:blipFill>
          <a:blip r:embed="rId1"/>
          <a:stretch>
            <a:fillRect/>
          </a:stretch>
        </p:blipFill>
        <p:spPr>
          <a:xfrm>
            <a:off x="457200" y="1163320"/>
            <a:ext cx="4023360" cy="2794000"/>
          </a:xfrm>
          <a:prstGeom prst="rect">
            <a:avLst/>
          </a:prstGeom>
        </p:spPr>
      </p:pic>
      <p:pic>
        <p:nvPicPr>
          <p:cNvPr id="4" name="Image 1" descr="Topología del gateway hacia web-v1 y web-v2">    </p:cNvPr>
          <p:cNvPicPr>
            <a:picLocks noChangeAspect="1"/>
          </p:cNvPicPr>
          <p:nvPr/>
        </p:nvPicPr>
        <p:blipFill>
          <a:blip r:embed="rId2"/>
          <a:stretch>
            <a:fillRect/>
          </a:stretch>
        </p:blipFill>
        <p:spPr>
          <a:xfrm>
            <a:off x="4663440" y="1638300"/>
            <a:ext cx="4023360" cy="1844040"/>
          </a:xfrm>
          <a:prstGeom prst="rect">
            <a:avLst/>
          </a:prstGeom>
        </p:spPr>
      </p:pic>
      <p:sp>
        <p:nvSpPr>
          <p:cNvPr id="5" name="Text 1"/>
          <p:cNvSpPr txBox="1"/>
          <p:nvPr/>
        </p:nvSpPr>
        <p:spPr>
          <a:xfrm>
            <a:off x="457200" y="4206240"/>
            <a:ext cx="4023360" cy="274320"/>
          </a:xfrm>
          <a:prstGeom prst="rect">
            <a:avLst/>
          </a:prstGeom>
          <a:noFill/>
          <a:ln/>
        </p:spPr>
        <p:txBody>
          <a:bodyPr wrap="square" lIns="0" tIns="0" rIns="0" bIns="0" rtlCol="0" anchor="t"/>
          <a:lstStyle/>
          <a:p>
            <a:pPr algn="ctr" indent="0" marL="0">
              <a:buNone/>
            </a:pPr>
            <a:r>
              <a:rPr lang="en-US" sz="1000" i="1" dirty="0">
                <a:solidFill>
                  <a:srgbClr val="5B6675"/>
                </a:solidFill>
              </a:rPr>
              <a:t>Namespace reto4: grafo de tráfico y métricas por deployment</a:t>
            </a:r>
            <a:endParaRPr lang="en-US" sz="1000" dirty="0"/>
          </a:p>
        </p:txBody>
      </p:sp>
      <p:sp>
        <p:nvSpPr>
          <p:cNvPr id="6" name="Text 2"/>
          <p:cNvSpPr txBox="1"/>
          <p:nvPr/>
        </p:nvSpPr>
        <p:spPr>
          <a:xfrm>
            <a:off x="4663440" y="4206240"/>
            <a:ext cx="4023360" cy="274320"/>
          </a:xfrm>
          <a:prstGeom prst="rect">
            <a:avLst/>
          </a:prstGeom>
          <a:noFill/>
          <a:ln/>
        </p:spPr>
        <p:txBody>
          <a:bodyPr wrap="square" lIns="0" tIns="0" rIns="0" bIns="0" rtlCol="0" anchor="t"/>
          <a:lstStyle/>
          <a:p>
            <a:pPr algn="ctr" indent="0" marL="0">
              <a:buNone/>
            </a:pPr>
            <a:r>
              <a:rPr lang="en-US" sz="1000" i="1" dirty="0">
                <a:solidFill>
                  <a:srgbClr val="5B6675"/>
                </a:solidFill>
              </a:rPr>
              <a:t>deployment/gateway: el tráfico sale hacia web-v1 y web-v2</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Experimentos adicionales</a:t>
            </a:r>
            <a:endParaRPr lang="en-US" sz="2800" dirty="0"/>
          </a:p>
        </p:txBody>
      </p:sp>
      <p:sp>
        <p:nvSpPr>
          <p:cNvPr id="3" name="tarjeta"/>
          <p:cNvSpPr/>
          <p:nvPr/>
        </p:nvSpPr>
        <p:spPr>
          <a:xfrm>
            <a:off x="457200" y="1051560"/>
            <a:ext cx="4023360" cy="3520440"/>
          </a:xfrm>
          <a:prstGeom prst="roundRect">
            <a:avLst>
              <a:gd name="adj" fmla="val 2597"/>
            </a:avLst>
          </a:prstGeom>
          <a:solidFill>
            <a:srgbClr val="F3F5F8"/>
          </a:solidFill>
          <a:ln w="12700">
            <a:solidFill>
              <a:srgbClr val="0B8A8F"/>
            </a:solidFill>
            <a:prstDash val="solid"/>
          </a:ln>
        </p:spPr>
      </p:sp>
      <p:sp>
        <p:nvSpPr>
          <p:cNvPr id="4" name="Text 2"/>
          <p:cNvSpPr txBox="1"/>
          <p:nvPr/>
        </p:nvSpPr>
        <p:spPr>
          <a:xfrm>
            <a:off x="685800" y="1143000"/>
            <a:ext cx="3566160" cy="384048"/>
          </a:xfrm>
          <a:prstGeom prst="rect">
            <a:avLst/>
          </a:prstGeom>
          <a:noFill/>
          <a:ln/>
        </p:spPr>
        <p:txBody>
          <a:bodyPr wrap="square" lIns="0" tIns="0" rIns="0" bIns="0" rtlCol="0" anchor="t"/>
          <a:lstStyle/>
          <a:p>
            <a:pPr indent="0" marL="0">
              <a:buNone/>
            </a:pPr>
            <a:r>
              <a:rPr lang="en-US" sz="1800" b="1" dirty="0">
                <a:solidFill>
                  <a:srgbClr val="0B8A8F"/>
                </a:solidFill>
              </a:rPr>
              <a:t>Canary 90/10 + cabecera</a:t>
            </a:r>
            <a:endParaRPr lang="en-US" sz="1800" dirty="0"/>
          </a:p>
        </p:txBody>
      </p:sp>
      <p:sp>
        <p:nvSpPr>
          <p:cNvPr id="5" name="Text 3"/>
          <p:cNvSpPr txBox="1"/>
          <p:nvPr/>
        </p:nvSpPr>
        <p:spPr>
          <a:xfrm>
            <a:off x="685800" y="1572768"/>
            <a:ext cx="1737360" cy="685800"/>
          </a:xfrm>
          <a:prstGeom prst="rect">
            <a:avLst/>
          </a:prstGeom>
          <a:noFill/>
          <a:ln/>
        </p:spPr>
        <p:txBody>
          <a:bodyPr wrap="square" lIns="0" tIns="0" rIns="0" bIns="0" rtlCol="0" anchor="t"/>
          <a:lstStyle/>
          <a:p>
            <a:pPr indent="0" marL="0">
              <a:buNone/>
            </a:pPr>
            <a:r>
              <a:rPr lang="en-US" sz="3600" b="1" dirty="0">
                <a:solidFill>
                  <a:srgbClr val="1F2A37"/>
                </a:solidFill>
              </a:rPr>
              <a:t>181 / 19</a:t>
            </a:r>
            <a:endParaRPr lang="en-US" sz="3600" dirty="0"/>
          </a:p>
        </p:txBody>
      </p:sp>
      <p:sp>
        <p:nvSpPr>
          <p:cNvPr id="6" name="Text 4"/>
          <p:cNvSpPr txBox="1"/>
          <p:nvPr/>
        </p:nvSpPr>
        <p:spPr>
          <a:xfrm>
            <a:off x="2423160" y="1627632"/>
            <a:ext cx="1874520" cy="640080"/>
          </a:xfrm>
          <a:prstGeom prst="rect">
            <a:avLst/>
          </a:prstGeom>
          <a:noFill/>
          <a:ln/>
        </p:spPr>
        <p:txBody>
          <a:bodyPr wrap="square" lIns="0" tIns="0" rIns="0" bIns="0" rtlCol="0" anchor="ctr"/>
          <a:lstStyle/>
          <a:p>
            <a:pPr indent="0" marL="0">
              <a:buNone/>
            </a:pPr>
            <a:r>
              <a:rPr lang="en-US" sz="1200" dirty="0">
                <a:solidFill>
                  <a:srgbClr val="5B6675"/>
                </a:solidFill>
              </a:rPr>
              <a:t>de 200 peticiones sin cabecera fueron a v1 / v2</a:t>
            </a:r>
            <a:endParaRPr lang="en-US" sz="1200" dirty="0"/>
          </a:p>
        </p:txBody>
      </p:sp>
      <p:pic>
        <p:nvPicPr>
          <p:cNvPr id="7" name="Image 0" descr="Canary 90/10 + cabecera">    </p:cNvPr>
          <p:cNvPicPr>
            <a:picLocks noChangeAspect="1"/>
          </p:cNvPicPr>
          <p:nvPr/>
        </p:nvPicPr>
        <p:blipFill>
          <a:blip r:embed="rId1"/>
          <a:stretch>
            <a:fillRect/>
          </a:stretch>
        </p:blipFill>
        <p:spPr>
          <a:xfrm>
            <a:off x="685800" y="2581961"/>
            <a:ext cx="3566160" cy="459638"/>
          </a:xfrm>
          <a:prstGeom prst="rect">
            <a:avLst/>
          </a:prstGeom>
        </p:spPr>
      </p:pic>
      <p:sp>
        <p:nvSpPr>
          <p:cNvPr id="8" name="Text 5"/>
          <p:cNvSpPr txBox="1"/>
          <p:nvPr/>
        </p:nvSpPr>
        <p:spPr>
          <a:xfrm>
            <a:off x="685800" y="3383280"/>
            <a:ext cx="3566160" cy="1097280"/>
          </a:xfrm>
          <a:prstGeom prst="rect">
            <a:avLst/>
          </a:prstGeom>
          <a:noFill/>
          <a:ln/>
        </p:spPr>
        <p:txBody>
          <a:bodyPr wrap="square" lIns="0" tIns="0" rIns="0" bIns="0" rtlCol="0" anchor="t"/>
          <a:lstStyle/>
          <a:p>
            <a:pPr indent="0" marL="0">
              <a:buNone/>
            </a:pPr>
            <a:r>
              <a:rPr lang="en-US" sz="1300" dirty="0">
                <a:solidFill>
                  <a:srgbClr val="1F2A37"/>
                </a:solidFill>
              </a:rPr>
              <a:t>Las 20 con cabecera fueron a v2: feature flag para testers y canary gradual para el resto</a:t>
            </a:r>
            <a:endParaRPr lang="en-US" sz="1300" dirty="0"/>
          </a:p>
        </p:txBody>
      </p:sp>
      <p:sp>
        <p:nvSpPr>
          <p:cNvPr id="9" name="tarjeta"/>
          <p:cNvSpPr/>
          <p:nvPr/>
        </p:nvSpPr>
        <p:spPr>
          <a:xfrm>
            <a:off x="4663440" y="1051560"/>
            <a:ext cx="4023360" cy="3520440"/>
          </a:xfrm>
          <a:prstGeom prst="roundRect">
            <a:avLst>
              <a:gd name="adj" fmla="val 2597"/>
            </a:avLst>
          </a:prstGeom>
          <a:solidFill>
            <a:srgbClr val="F3F5F8"/>
          </a:solidFill>
          <a:ln w="12700">
            <a:solidFill>
              <a:srgbClr val="9B2C2C"/>
            </a:solidFill>
            <a:prstDash val="solid"/>
          </a:ln>
        </p:spPr>
      </p:sp>
      <p:sp>
        <p:nvSpPr>
          <p:cNvPr id="10" name="Text 7"/>
          <p:cNvSpPr txBox="1"/>
          <p:nvPr/>
        </p:nvSpPr>
        <p:spPr>
          <a:xfrm>
            <a:off x="4892040" y="1143000"/>
            <a:ext cx="3566160" cy="384048"/>
          </a:xfrm>
          <a:prstGeom prst="rect">
            <a:avLst/>
          </a:prstGeom>
          <a:noFill/>
          <a:ln/>
        </p:spPr>
        <p:txBody>
          <a:bodyPr wrap="square" lIns="0" tIns="0" rIns="0" bIns="0" rtlCol="0" anchor="t"/>
          <a:lstStyle/>
          <a:p>
            <a:pPr indent="0" marL="0">
              <a:buNone/>
            </a:pPr>
            <a:r>
              <a:rPr lang="en-US" sz="1800" b="1" dirty="0">
                <a:solidFill>
                  <a:srgbClr val="9B2C2C"/>
                </a:solidFill>
              </a:rPr>
              <a:t>Fuera de la malla</a:t>
            </a:r>
            <a:endParaRPr lang="en-US" sz="1800" dirty="0"/>
          </a:p>
        </p:txBody>
      </p:sp>
      <p:sp>
        <p:nvSpPr>
          <p:cNvPr id="11" name="Text 8"/>
          <p:cNvSpPr txBox="1"/>
          <p:nvPr/>
        </p:nvSpPr>
        <p:spPr>
          <a:xfrm>
            <a:off x="4892040" y="1572768"/>
            <a:ext cx="1737360" cy="685800"/>
          </a:xfrm>
          <a:prstGeom prst="rect">
            <a:avLst/>
          </a:prstGeom>
          <a:noFill/>
          <a:ln/>
        </p:spPr>
        <p:txBody>
          <a:bodyPr wrap="square" lIns="0" tIns="0" rIns="0" bIns="0" rtlCol="0" anchor="t"/>
          <a:lstStyle/>
          <a:p>
            <a:pPr indent="0" marL="0">
              <a:buNone/>
            </a:pPr>
            <a:r>
              <a:rPr lang="en-US" sz="3600" b="1" dirty="0">
                <a:solidFill>
                  <a:srgbClr val="1F2A37"/>
                </a:solidFill>
              </a:rPr>
              <a:t>5 / 5</a:t>
            </a:r>
            <a:endParaRPr lang="en-US" sz="3600" dirty="0"/>
          </a:p>
        </p:txBody>
      </p:sp>
      <p:sp>
        <p:nvSpPr>
          <p:cNvPr id="12" name="Text 9"/>
          <p:cNvSpPr txBox="1"/>
          <p:nvPr/>
        </p:nvSpPr>
        <p:spPr>
          <a:xfrm>
            <a:off x="6629400" y="1627632"/>
            <a:ext cx="1874520" cy="640080"/>
          </a:xfrm>
          <a:prstGeom prst="rect">
            <a:avLst/>
          </a:prstGeom>
          <a:noFill/>
          <a:ln/>
        </p:spPr>
        <p:txBody>
          <a:bodyPr wrap="square" lIns="0" tIns="0" rIns="0" bIns="0" rtlCol="0" anchor="ctr"/>
          <a:lstStyle/>
          <a:p>
            <a:pPr indent="0" marL="0">
              <a:buNone/>
            </a:pPr>
            <a:r>
              <a:rPr lang="en-US" sz="1200" dirty="0">
                <a:solidFill>
                  <a:srgbClr val="5B6675"/>
                </a:solidFill>
              </a:rPr>
              <a:t>respuestas de v1 aun enviando la cabecera</a:t>
            </a:r>
            <a:endParaRPr lang="en-US" sz="1200" dirty="0"/>
          </a:p>
        </p:txBody>
      </p:sp>
      <p:pic>
        <p:nvPicPr>
          <p:cNvPr id="13" name="Image 1" descr="Fuera de la malla">    </p:cNvPr>
          <p:cNvPicPr>
            <a:picLocks noChangeAspect="1"/>
          </p:cNvPicPr>
          <p:nvPr/>
        </p:nvPicPr>
        <p:blipFill>
          <a:blip r:embed="rId2"/>
          <a:stretch>
            <a:fillRect/>
          </a:stretch>
        </p:blipFill>
        <p:spPr>
          <a:xfrm>
            <a:off x="4892040" y="2439314"/>
            <a:ext cx="3566160" cy="744931"/>
          </a:xfrm>
          <a:prstGeom prst="rect">
            <a:avLst/>
          </a:prstGeom>
        </p:spPr>
      </p:pic>
      <p:sp>
        <p:nvSpPr>
          <p:cNvPr id="14" name="Text 10"/>
          <p:cNvSpPr txBox="1"/>
          <p:nvPr/>
        </p:nvSpPr>
        <p:spPr>
          <a:xfrm>
            <a:off x="4892040" y="3383280"/>
            <a:ext cx="3566160" cy="1097280"/>
          </a:xfrm>
          <a:prstGeom prst="rect">
            <a:avLst/>
          </a:prstGeom>
          <a:noFill/>
          <a:ln/>
        </p:spPr>
        <p:txBody>
          <a:bodyPr wrap="square" lIns="0" tIns="0" rIns="0" bIns="0" rtlCol="0" anchor="t"/>
          <a:lstStyle/>
          <a:p>
            <a:pPr indent="0" marL="0">
              <a:buNone/>
            </a:pPr>
            <a:r>
              <a:rPr lang="en-US" sz="1300" dirty="0">
                <a:solidFill>
                  <a:srgbClr val="1F2A37"/>
                </a:solidFill>
              </a:rPr>
              <a:t>Sin proxy cliente no se aplica la ruta: confirma dónde decide Linkerd</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Service Mesh vs Ingress vs balanceador</a:t>
            </a:r>
            <a:endParaRPr lang="en-US" sz="2800" dirty="0"/>
          </a:p>
        </p:txBody>
      </p:sp>
      <p:sp>
        <p:nvSpPr>
          <p:cNvPr id="3" name="tarjeta"/>
          <p:cNvSpPr/>
          <p:nvPr/>
        </p:nvSpPr>
        <p:spPr>
          <a:xfrm>
            <a:off x="457200" y="1051560"/>
            <a:ext cx="2606040" cy="3520440"/>
          </a:xfrm>
          <a:prstGeom prst="roundRect">
            <a:avLst>
              <a:gd name="adj" fmla="val 3509"/>
            </a:avLst>
          </a:prstGeom>
          <a:solidFill>
            <a:srgbClr val="F3F5F8"/>
          </a:solidFill>
          <a:ln w="12700">
            <a:solidFill>
              <a:srgbClr val="5B6675"/>
            </a:solidFill>
            <a:prstDash val="solid"/>
          </a:ln>
        </p:spPr>
      </p:sp>
      <p:sp>
        <p:nvSpPr>
          <p:cNvPr id="4" name="Text 2"/>
          <p:cNvSpPr txBox="1"/>
          <p:nvPr/>
        </p:nvSpPr>
        <p:spPr>
          <a:xfrm>
            <a:off x="640080" y="1143000"/>
            <a:ext cx="2240280" cy="411480"/>
          </a:xfrm>
          <a:prstGeom prst="rect">
            <a:avLst/>
          </a:prstGeom>
          <a:noFill/>
          <a:ln/>
        </p:spPr>
        <p:txBody>
          <a:bodyPr wrap="square" lIns="0" tIns="0" rIns="0" bIns="0" rtlCol="0" anchor="t"/>
          <a:lstStyle/>
          <a:p>
            <a:pPr indent="0" marL="0">
              <a:buNone/>
            </a:pPr>
            <a:r>
              <a:rPr lang="en-US" sz="1800" b="1" dirty="0">
                <a:solidFill>
                  <a:srgbClr val="5B6675"/>
                </a:solidFill>
              </a:rPr>
              <a:t>Balanceador L4</a:t>
            </a:r>
            <a:endParaRPr lang="en-US" sz="1800" dirty="0"/>
          </a:p>
        </p:txBody>
      </p:sp>
      <p:sp>
        <p:nvSpPr>
          <p:cNvPr id="5" name="Text 3"/>
          <p:cNvSpPr txBox="1"/>
          <p:nvPr/>
        </p:nvSpPr>
        <p:spPr>
          <a:xfrm>
            <a:off x="640080" y="1691640"/>
            <a:ext cx="2286000"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Simple y barato</a:t>
            </a:r>
            <a:endParaRPr lang="en-US" sz="1400" dirty="0"/>
          </a:p>
          <a:p>
            <a:pPr indent="0" marL="0">
              <a:spcAft>
                <a:spcPts val="400"/>
              </a:spcAft>
              <a:buNone/>
            </a:pPr>
            <a:r>
              <a:rPr lang="en-US" sz="1400" dirty="0">
                <a:solidFill>
                  <a:schemeClr val="tx1"/>
                </a:solidFill>
              </a:rPr>
              <a:t>+ Muy bajo overhead</a:t>
            </a:r>
            <a:endParaRPr lang="en-US" sz="1400" dirty="0"/>
          </a:p>
        </p:txBody>
      </p:sp>
      <p:sp>
        <p:nvSpPr>
          <p:cNvPr id="6" name="Text 4"/>
          <p:cNvSpPr txBox="1"/>
          <p:nvPr/>
        </p:nvSpPr>
        <p:spPr>
          <a:xfrm>
            <a:off x="640080" y="3154680"/>
            <a:ext cx="2286000" cy="1325880"/>
          </a:xfrm>
          <a:prstGeom prst="rect">
            <a:avLst/>
          </a:prstGeom>
          <a:noFill/>
          <a:ln/>
        </p:spPr>
        <p:txBody>
          <a:bodyPr wrap="square" lIns="0" tIns="0" rIns="0" bIns="0" rtlCol="0" anchor="t"/>
          <a:lstStyle/>
          <a:p>
            <a:pPr indent="0" marL="0">
              <a:spcAft>
                <a:spcPts val="400"/>
              </a:spcAft>
              <a:buNone/>
            </a:pPr>
            <a:r>
              <a:rPr lang="en-US" sz="1400" dirty="0">
                <a:solidFill>
                  <a:srgbClr val="9B2C2C"/>
                </a:solidFill>
              </a:rPr>
              <a:t>– No entiende HTTP: sin cabeceras</a:t>
            </a:r>
            <a:endParaRPr lang="en-US" sz="1400" dirty="0"/>
          </a:p>
          <a:p>
            <a:pPr indent="0" marL="0">
              <a:spcAft>
                <a:spcPts val="400"/>
              </a:spcAft>
              <a:buNone/>
            </a:pPr>
            <a:r>
              <a:rPr lang="en-US" sz="1400" dirty="0">
                <a:solidFill>
                  <a:srgbClr val="9B2C2C"/>
                </a:solidFill>
              </a:rPr>
              <a:t>– Sin mTLS ni métricas por servicio</a:t>
            </a:r>
            <a:endParaRPr lang="en-US" sz="1400" dirty="0"/>
          </a:p>
        </p:txBody>
      </p:sp>
      <p:sp>
        <p:nvSpPr>
          <p:cNvPr id="7" name="tarjeta"/>
          <p:cNvSpPr/>
          <p:nvPr/>
        </p:nvSpPr>
        <p:spPr>
          <a:xfrm>
            <a:off x="3246120" y="1051560"/>
            <a:ext cx="2606040" cy="3520440"/>
          </a:xfrm>
          <a:prstGeom prst="roundRect">
            <a:avLst>
              <a:gd name="adj" fmla="val 3509"/>
            </a:avLst>
          </a:prstGeom>
          <a:solidFill>
            <a:srgbClr val="F3F5F8"/>
          </a:solidFill>
          <a:ln w="12700">
            <a:solidFill>
              <a:srgbClr val="2563EB"/>
            </a:solidFill>
            <a:prstDash val="solid"/>
          </a:ln>
        </p:spPr>
      </p:sp>
      <p:sp>
        <p:nvSpPr>
          <p:cNvPr id="8" name="Text 6"/>
          <p:cNvSpPr txBox="1"/>
          <p:nvPr/>
        </p:nvSpPr>
        <p:spPr>
          <a:xfrm>
            <a:off x="3429000" y="1143000"/>
            <a:ext cx="2240280" cy="411480"/>
          </a:xfrm>
          <a:prstGeom prst="rect">
            <a:avLst/>
          </a:prstGeom>
          <a:noFill/>
          <a:ln/>
        </p:spPr>
        <p:txBody>
          <a:bodyPr wrap="square" lIns="0" tIns="0" rIns="0" bIns="0" rtlCol="0" anchor="t"/>
          <a:lstStyle/>
          <a:p>
            <a:pPr indent="0" marL="0">
              <a:buNone/>
            </a:pPr>
            <a:r>
              <a:rPr lang="en-US" sz="1800" b="1" dirty="0">
                <a:solidFill>
                  <a:srgbClr val="2563EB"/>
                </a:solidFill>
              </a:rPr>
              <a:t>Ingress (borde)</a:t>
            </a:r>
            <a:endParaRPr lang="en-US" sz="1800" dirty="0"/>
          </a:p>
        </p:txBody>
      </p:sp>
      <p:sp>
        <p:nvSpPr>
          <p:cNvPr id="9" name="Text 7"/>
          <p:cNvSpPr txBox="1"/>
          <p:nvPr/>
        </p:nvSpPr>
        <p:spPr>
          <a:xfrm>
            <a:off x="3429000" y="1691640"/>
            <a:ext cx="2286000"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Ruteo HTTP para tráfico externo</a:t>
            </a:r>
            <a:endParaRPr lang="en-US" sz="1400" dirty="0"/>
          </a:p>
          <a:p>
            <a:pPr indent="0" marL="0">
              <a:spcAft>
                <a:spcPts val="400"/>
              </a:spcAft>
              <a:buNone/>
            </a:pPr>
            <a:r>
              <a:rPr lang="en-US" sz="1400" dirty="0">
                <a:solidFill>
                  <a:schemeClr val="tx1"/>
                </a:solidFill>
              </a:rPr>
              <a:t>+ TLS hacia el usuario</a:t>
            </a:r>
            <a:endParaRPr lang="en-US" sz="1400" dirty="0"/>
          </a:p>
        </p:txBody>
      </p:sp>
      <p:sp>
        <p:nvSpPr>
          <p:cNvPr id="10" name="Text 8"/>
          <p:cNvSpPr txBox="1"/>
          <p:nvPr/>
        </p:nvSpPr>
        <p:spPr>
          <a:xfrm>
            <a:off x="3429000" y="3154680"/>
            <a:ext cx="2286000" cy="1325880"/>
          </a:xfrm>
          <a:prstGeom prst="rect">
            <a:avLst/>
          </a:prstGeom>
          <a:noFill/>
          <a:ln/>
        </p:spPr>
        <p:txBody>
          <a:bodyPr wrap="square" lIns="0" tIns="0" rIns="0" bIns="0" rtlCol="0" anchor="t"/>
          <a:lstStyle/>
          <a:p>
            <a:pPr indent="0" marL="0">
              <a:spcAft>
                <a:spcPts val="400"/>
              </a:spcAft>
              <a:buNone/>
            </a:pPr>
            <a:r>
              <a:rPr lang="en-US" sz="1400" dirty="0">
                <a:solidFill>
                  <a:srgbClr val="9B2C2C"/>
                </a:solidFill>
              </a:rPr>
              <a:t>– No ve llamadas entre servicios</a:t>
            </a:r>
            <a:endParaRPr lang="en-US" sz="1400" dirty="0"/>
          </a:p>
          <a:p>
            <a:pPr indent="0" marL="0">
              <a:spcAft>
                <a:spcPts val="400"/>
              </a:spcAft>
              <a:buNone/>
            </a:pPr>
            <a:r>
              <a:rPr lang="en-US" sz="1400" dirty="0">
                <a:solidFill>
                  <a:srgbClr val="9B2C2C"/>
                </a:solidFill>
              </a:rPr>
              <a:t>– TLS termina en el borde</a:t>
            </a:r>
            <a:endParaRPr lang="en-US" sz="1400" dirty="0"/>
          </a:p>
        </p:txBody>
      </p:sp>
      <p:sp>
        <p:nvSpPr>
          <p:cNvPr id="11" name="tarjeta"/>
          <p:cNvSpPr/>
          <p:nvPr/>
        </p:nvSpPr>
        <p:spPr>
          <a:xfrm>
            <a:off x="6035040" y="1051560"/>
            <a:ext cx="2606040" cy="3520440"/>
          </a:xfrm>
          <a:prstGeom prst="roundRect">
            <a:avLst>
              <a:gd name="adj" fmla="val 3509"/>
            </a:avLst>
          </a:prstGeom>
          <a:solidFill>
            <a:srgbClr val="F3F5F8"/>
          </a:solidFill>
          <a:ln w="12700">
            <a:solidFill>
              <a:srgbClr val="0B8A8F"/>
            </a:solidFill>
            <a:prstDash val="solid"/>
          </a:ln>
        </p:spPr>
      </p:sp>
      <p:sp>
        <p:nvSpPr>
          <p:cNvPr id="12" name="Text 10"/>
          <p:cNvSpPr txBox="1"/>
          <p:nvPr/>
        </p:nvSpPr>
        <p:spPr>
          <a:xfrm>
            <a:off x="6217920" y="1143000"/>
            <a:ext cx="2240280" cy="411480"/>
          </a:xfrm>
          <a:prstGeom prst="rect">
            <a:avLst/>
          </a:prstGeom>
          <a:noFill/>
          <a:ln/>
        </p:spPr>
        <p:txBody>
          <a:bodyPr wrap="square" lIns="0" tIns="0" rIns="0" bIns="0" rtlCol="0" anchor="t"/>
          <a:lstStyle/>
          <a:p>
            <a:pPr indent="0" marL="0">
              <a:buNone/>
            </a:pPr>
            <a:r>
              <a:rPr lang="en-US" sz="1800" b="1" dirty="0">
                <a:solidFill>
                  <a:srgbClr val="0B8A8F"/>
                </a:solidFill>
              </a:rPr>
              <a:t>Service Mesh</a:t>
            </a:r>
            <a:endParaRPr lang="en-US" sz="1800" dirty="0"/>
          </a:p>
        </p:txBody>
      </p:sp>
      <p:sp>
        <p:nvSpPr>
          <p:cNvPr id="13" name="Text 11"/>
          <p:cNvSpPr txBox="1"/>
          <p:nvPr/>
        </p:nvSpPr>
        <p:spPr>
          <a:xfrm>
            <a:off x="6217920" y="1691640"/>
            <a:ext cx="2286000"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Reglas en cada llamada, también este-oeste</a:t>
            </a:r>
            <a:endParaRPr lang="en-US" sz="1400" dirty="0"/>
          </a:p>
          <a:p>
            <a:pPr indent="0" marL="0">
              <a:spcAft>
                <a:spcPts val="400"/>
              </a:spcAft>
              <a:buNone/>
            </a:pPr>
            <a:r>
              <a:rPr lang="en-US" sz="1400" dirty="0">
                <a:solidFill>
                  <a:schemeClr val="tx1"/>
                </a:solidFill>
              </a:rPr>
              <a:t>+ mTLS y métricas automáticas</a:t>
            </a:r>
            <a:endParaRPr lang="en-US" sz="1400" dirty="0"/>
          </a:p>
        </p:txBody>
      </p:sp>
      <p:sp>
        <p:nvSpPr>
          <p:cNvPr id="14" name="Text 12"/>
          <p:cNvSpPr txBox="1"/>
          <p:nvPr/>
        </p:nvSpPr>
        <p:spPr>
          <a:xfrm>
            <a:off x="6217920" y="3154680"/>
            <a:ext cx="2286000" cy="1325880"/>
          </a:xfrm>
          <a:prstGeom prst="rect">
            <a:avLst/>
          </a:prstGeom>
          <a:noFill/>
          <a:ln/>
        </p:spPr>
        <p:txBody>
          <a:bodyPr wrap="square" lIns="0" tIns="0" rIns="0" bIns="0" rtlCol="0" anchor="t"/>
          <a:lstStyle/>
          <a:p>
            <a:pPr indent="0" marL="0">
              <a:spcAft>
                <a:spcPts val="400"/>
              </a:spcAft>
              <a:buNone/>
            </a:pPr>
            <a:r>
              <a:rPr lang="en-US" sz="1400" dirty="0">
                <a:solidFill>
                  <a:srgbClr val="9B2C2C"/>
                </a:solidFill>
              </a:rPr>
              <a:t>– Un proxy por pod (CPU/RAM)</a:t>
            </a:r>
            <a:endParaRPr lang="en-US" sz="1400" dirty="0"/>
          </a:p>
          <a:p>
            <a:pPr indent="0" marL="0">
              <a:spcAft>
                <a:spcPts val="400"/>
              </a:spcAft>
              <a:buNone/>
            </a:pPr>
            <a:r>
              <a:rPr lang="en-US" sz="1400" dirty="0">
                <a:solidFill>
                  <a:srgbClr val="9B2C2C"/>
                </a:solidFill>
              </a:rPr>
              <a:t>– Más componentes que operar</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Retos técnicos</a:t>
            </a:r>
            <a:endParaRPr lang="en-US" sz="2800" dirty="0"/>
          </a:p>
        </p:txBody>
      </p:sp>
      <p:sp>
        <p:nvSpPr>
          <p:cNvPr id="3" name="tarjeta"/>
          <p:cNvSpPr/>
          <p:nvPr/>
        </p:nvSpPr>
        <p:spPr>
          <a:xfrm>
            <a:off x="457200" y="1097280"/>
            <a:ext cx="40233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4" name="numero"/>
          <p:cNvSpPr/>
          <p:nvPr/>
        </p:nvSpPr>
        <p:spPr>
          <a:xfrm>
            <a:off x="640080" y="1280160"/>
            <a:ext cx="384048" cy="384048"/>
          </a:xfrm>
          <a:prstGeom prst="ellipse">
            <a:avLst/>
          </a:prstGeom>
          <a:solidFill>
            <a:schemeClr val="accent1"/>
          </a:solidFill>
          <a:ln/>
        </p:spPr>
      </p:sp>
      <p:sp>
        <p:nvSpPr>
          <p:cNvPr id="5"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88720" y="1261872"/>
            <a:ext cx="3154680" cy="411480"/>
          </a:xfrm>
          <a:prstGeom prst="rect">
            <a:avLst/>
          </a:prstGeom>
          <a:noFill/>
          <a:ln/>
        </p:spPr>
        <p:txBody>
          <a:bodyPr wrap="square" lIns="0" tIns="0" rIns="0" bIns="0" rtlCol="0" anchor="ctr"/>
          <a:lstStyle/>
          <a:p>
            <a:pPr indent="0" marL="0">
              <a:buNone/>
            </a:pPr>
            <a:r>
              <a:rPr lang="en-US" sz="1600" b="1" dirty="0">
                <a:solidFill>
                  <a:schemeClr val="tx1"/>
                </a:solidFill>
              </a:rPr>
              <a:t>Herramientas fuera del PATH</a:t>
            </a:r>
            <a:endParaRPr lang="en-US" sz="1600" dirty="0"/>
          </a:p>
        </p:txBody>
      </p:sp>
      <p:sp>
        <p:nvSpPr>
          <p:cNvPr id="7" name="Text 5"/>
          <p:cNvSpPr txBox="1"/>
          <p:nvPr/>
        </p:nvSpPr>
        <p:spPr>
          <a:xfrm>
            <a:off x="1188720" y="1737360"/>
            <a:ext cx="3154680" cy="731520"/>
          </a:xfrm>
          <a:prstGeom prst="rect">
            <a:avLst/>
          </a:prstGeom>
          <a:noFill/>
          <a:ln/>
        </p:spPr>
        <p:txBody>
          <a:bodyPr wrap="square" lIns="0" tIns="0" rIns="0" bIns="0" rtlCol="0" anchor="t"/>
          <a:lstStyle/>
          <a:p>
            <a:pPr indent="0" marL="0">
              <a:buNone/>
            </a:pPr>
            <a:r>
              <a:rPr lang="en-US" sz="1300" dirty="0">
                <a:solidFill>
                  <a:srgbClr val="5B6675"/>
                </a:solidFill>
              </a:rPr>
              <a:t>env.sh agrega Docker, kind y linkerd a cada script</a:t>
            </a:r>
            <a:endParaRPr lang="en-US" sz="1300" dirty="0"/>
          </a:p>
        </p:txBody>
      </p:sp>
      <p:sp>
        <p:nvSpPr>
          <p:cNvPr id="8" name="tarjeta"/>
          <p:cNvSpPr/>
          <p:nvPr/>
        </p:nvSpPr>
        <p:spPr>
          <a:xfrm>
            <a:off x="4663440" y="1097280"/>
            <a:ext cx="40233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9" name="numero"/>
          <p:cNvSpPr/>
          <p:nvPr/>
        </p:nvSpPr>
        <p:spPr>
          <a:xfrm>
            <a:off x="4846320" y="1280160"/>
            <a:ext cx="384048" cy="384048"/>
          </a:xfrm>
          <a:prstGeom prst="ellipse">
            <a:avLst/>
          </a:prstGeom>
          <a:solidFill>
            <a:schemeClr val="accent1"/>
          </a:solidFill>
          <a:ln/>
        </p:spPr>
      </p:sp>
      <p:sp>
        <p:nvSpPr>
          <p:cNvPr id="10" name="Text 8"/>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5394960" y="1261872"/>
            <a:ext cx="3154680" cy="411480"/>
          </a:xfrm>
          <a:prstGeom prst="rect">
            <a:avLst/>
          </a:prstGeom>
          <a:noFill/>
          <a:ln/>
        </p:spPr>
        <p:txBody>
          <a:bodyPr wrap="square" lIns="0" tIns="0" rIns="0" bIns="0" rtlCol="0" anchor="ctr"/>
          <a:lstStyle/>
          <a:p>
            <a:pPr indent="0" marL="0">
              <a:buNone/>
            </a:pPr>
            <a:r>
              <a:rPr lang="en-US" sz="1600" b="1" dirty="0">
                <a:solidFill>
                  <a:schemeClr val="tx1"/>
                </a:solidFill>
              </a:rPr>
              <a:t>El proxy no aparecía en los pods</a:t>
            </a:r>
            <a:endParaRPr lang="en-US" sz="1600" dirty="0"/>
          </a:p>
        </p:txBody>
      </p:sp>
      <p:sp>
        <p:nvSpPr>
          <p:cNvPr id="12" name="Text 10"/>
          <p:cNvSpPr txBox="1"/>
          <p:nvPr/>
        </p:nvSpPr>
        <p:spPr>
          <a:xfrm>
            <a:off x="5394960" y="1737360"/>
            <a:ext cx="3154680" cy="731520"/>
          </a:xfrm>
          <a:prstGeom prst="rect">
            <a:avLst/>
          </a:prstGeom>
          <a:noFill/>
          <a:ln/>
        </p:spPr>
        <p:txBody>
          <a:bodyPr wrap="square" lIns="0" tIns="0" rIns="0" bIns="0" rtlCol="0" anchor="t"/>
          <a:lstStyle/>
          <a:p>
            <a:pPr indent="0" marL="0">
              <a:buNone/>
            </a:pPr>
            <a:r>
              <a:rPr lang="en-US" sz="1300" dirty="0">
                <a:solidFill>
                  <a:srgbClr val="5B6675"/>
                </a:solidFill>
              </a:rPr>
              <a:t>Linkerd 2026 usa sidecar nativo: está en initContainers</a:t>
            </a:r>
            <a:endParaRPr lang="en-US" sz="1300" dirty="0"/>
          </a:p>
        </p:txBody>
      </p:sp>
      <p:sp>
        <p:nvSpPr>
          <p:cNvPr id="13" name="tarjeta"/>
          <p:cNvSpPr/>
          <p:nvPr/>
        </p:nvSpPr>
        <p:spPr>
          <a:xfrm>
            <a:off x="457200" y="2788920"/>
            <a:ext cx="40233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14" name="numero"/>
          <p:cNvSpPr/>
          <p:nvPr/>
        </p:nvSpPr>
        <p:spPr>
          <a:xfrm>
            <a:off x="640080" y="2971800"/>
            <a:ext cx="384048" cy="384048"/>
          </a:xfrm>
          <a:prstGeom prst="ellipse">
            <a:avLst/>
          </a:prstGeom>
          <a:solidFill>
            <a:schemeClr val="accent1"/>
          </a:solidFill>
          <a:ln/>
        </p:spPr>
      </p:sp>
      <p:sp>
        <p:nvSpPr>
          <p:cNvPr id="15" name="Text 13"/>
          <p:cNvSpPr txBox="1"/>
          <p:nvPr/>
        </p:nvSpPr>
        <p:spPr>
          <a:xfrm>
            <a:off x="64008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1188720" y="2953512"/>
            <a:ext cx="3154680" cy="411480"/>
          </a:xfrm>
          <a:prstGeom prst="rect">
            <a:avLst/>
          </a:prstGeom>
          <a:noFill/>
          <a:ln/>
        </p:spPr>
        <p:txBody>
          <a:bodyPr wrap="square" lIns="0" tIns="0" rIns="0" bIns="0" rtlCol="0" anchor="ctr"/>
          <a:lstStyle/>
          <a:p>
            <a:pPr indent="0" marL="0">
              <a:buNone/>
            </a:pPr>
            <a:r>
              <a:rPr lang="en-US" sz="1600" b="1" dirty="0">
                <a:solidFill>
                  <a:schemeClr val="tx1"/>
                </a:solidFill>
              </a:rPr>
              <a:t>La cabecera no cambiaba nada</a:t>
            </a:r>
            <a:endParaRPr lang="en-US" sz="1600" dirty="0"/>
          </a:p>
        </p:txBody>
      </p:sp>
      <p:sp>
        <p:nvSpPr>
          <p:cNvPr id="17" name="Text 15"/>
          <p:cNvSpPr txBox="1"/>
          <p:nvPr/>
        </p:nvSpPr>
        <p:spPr>
          <a:xfrm>
            <a:off x="1188720" y="3429000"/>
            <a:ext cx="3154680" cy="731520"/>
          </a:xfrm>
          <a:prstGeom prst="rect">
            <a:avLst/>
          </a:prstGeom>
          <a:noFill/>
          <a:ln/>
        </p:spPr>
        <p:txBody>
          <a:bodyPr wrap="square" lIns="0" tIns="0" rIns="0" bIns="0" rtlCol="0" anchor="t"/>
          <a:lstStyle/>
          <a:p>
            <a:pPr indent="0" marL="0">
              <a:buNone/>
            </a:pPr>
            <a:r>
              <a:rPr lang="en-US" sz="1300" dirty="0">
                <a:solidFill>
                  <a:srgbClr val="5B6675"/>
                </a:solidFill>
              </a:rPr>
              <a:t>El ruteo es del proxy cliente: gateway nginx mallado</a:t>
            </a:r>
            <a:endParaRPr lang="en-US" sz="1300" dirty="0"/>
          </a:p>
        </p:txBody>
      </p:sp>
      <p:sp>
        <p:nvSpPr>
          <p:cNvPr id="18" name="tarjeta"/>
          <p:cNvSpPr/>
          <p:nvPr/>
        </p:nvSpPr>
        <p:spPr>
          <a:xfrm>
            <a:off x="4663440" y="2788920"/>
            <a:ext cx="4023360" cy="1463040"/>
          </a:xfrm>
          <a:prstGeom prst="roundRect">
            <a:avLst>
              <a:gd name="adj" fmla="val 6250"/>
            </a:avLst>
          </a:prstGeom>
          <a:solidFill>
            <a:srgbClr val="F3F5F8"/>
          </a:solidFill>
          <a:ln/>
          <a:effectLst>
            <a:outerShdw sx="100000" sy="100000" kx="0" ky="0" algn="bl" rotWithShape="0" blurRad="76200" dist="25400" dir="5400000">
              <a:srgbClr val="000000">
                <a:alpha val="12000"/>
              </a:srgbClr>
            </a:outerShdw>
          </a:effectLst>
        </p:spPr>
      </p:sp>
      <p:sp>
        <p:nvSpPr>
          <p:cNvPr id="19" name="numero"/>
          <p:cNvSpPr/>
          <p:nvPr/>
        </p:nvSpPr>
        <p:spPr>
          <a:xfrm>
            <a:off x="4846320" y="2971800"/>
            <a:ext cx="384048" cy="384048"/>
          </a:xfrm>
          <a:prstGeom prst="ellipse">
            <a:avLst/>
          </a:prstGeom>
          <a:solidFill>
            <a:schemeClr val="accent1"/>
          </a:solidFill>
          <a:ln/>
        </p:spPr>
      </p:sp>
      <p:sp>
        <p:nvSpPr>
          <p:cNvPr id="20" name="Text 18"/>
          <p:cNvSpPr txBox="1"/>
          <p:nvPr/>
        </p:nvSpPr>
        <p:spPr>
          <a:xfrm>
            <a:off x="484632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5394960" y="2953512"/>
            <a:ext cx="3154680" cy="411480"/>
          </a:xfrm>
          <a:prstGeom prst="rect">
            <a:avLst/>
          </a:prstGeom>
          <a:noFill/>
          <a:ln/>
        </p:spPr>
        <p:txBody>
          <a:bodyPr wrap="square" lIns="0" tIns="0" rIns="0" bIns="0" rtlCol="0" anchor="ctr"/>
          <a:lstStyle/>
          <a:p>
            <a:pPr indent="0" marL="0">
              <a:buNone/>
            </a:pPr>
            <a:r>
              <a:rPr lang="en-US" sz="1600" b="1" dirty="0">
                <a:solidFill>
                  <a:schemeClr val="tx1"/>
                </a:solidFill>
              </a:rPr>
              <a:t>TrafficSplit deprecado</a:t>
            </a:r>
            <a:endParaRPr lang="en-US" sz="1600" dirty="0"/>
          </a:p>
        </p:txBody>
      </p:sp>
      <p:sp>
        <p:nvSpPr>
          <p:cNvPr id="22" name="Text 20"/>
          <p:cNvSpPr txBox="1"/>
          <p:nvPr/>
        </p:nvSpPr>
        <p:spPr>
          <a:xfrm>
            <a:off x="5394960" y="3429000"/>
            <a:ext cx="3154680" cy="731520"/>
          </a:xfrm>
          <a:prstGeom prst="rect">
            <a:avLst/>
          </a:prstGeom>
          <a:noFill/>
          <a:ln/>
        </p:spPr>
        <p:txBody>
          <a:bodyPr wrap="square" lIns="0" tIns="0" rIns="0" bIns="0" rtlCol="0" anchor="t"/>
          <a:lstStyle/>
          <a:p>
            <a:pPr indent="0" marL="0">
              <a:buNone/>
            </a:pPr>
            <a:r>
              <a:rPr lang="en-US" sz="1300" dirty="0">
                <a:solidFill>
                  <a:srgbClr val="5B6675"/>
                </a:solidFill>
              </a:rPr>
              <a:t>Migramos al estándar: HTTPRoute de Gateway API</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bg1"/>
                </a:solidFill>
              </a:rPr>
              <a:t>Conclusiones</a:t>
            </a:r>
            <a:endParaRPr lang="en-US" sz="3200" dirty="0"/>
          </a:p>
        </p:txBody>
      </p:sp>
      <p:sp>
        <p:nvSpPr>
          <p:cNvPr id="3" name="Text 0"/>
          <p:cNvSpPr/>
          <p:nvPr>
            <p:ph idx="101" type="body" hasCustomPrompt="1"/>
          </p:nvPr>
        </p:nvSpPr>
        <p:spPr>
          <a:xfrm>
            <a:off x="457200" y="1280160"/>
            <a:ext cx="8229600" cy="3383280"/>
          </a:xfrm>
          <a:prstGeom prst="rect">
            <a:avLst/>
          </a:prstGeom>
          <a:noFill/>
          <a:ln/>
        </p:spPr>
        <p:txBody>
          <a:bodyPr wrap="square" rtlCol="0" anchor="t"/>
          <a:lstStyle/>
          <a:p>
            <a:pPr marL="342900" indent="-342900">
              <a:spcAft>
                <a:spcPts val="1200"/>
              </a:spcAft>
              <a:buSzPct val="100000"/>
              <a:buChar char="•"/>
            </a:pPr>
            <a:r>
              <a:rPr lang="en-US" sz="1800" dirty="0">
                <a:solidFill>
                  <a:schemeClr val="bg1"/>
                </a:solidFill>
              </a:rPr>
              <a:t>Una cabecera HTTP decide la versión sin tocar el código: 100/100 peticiones correctas</a:t>
            </a:r>
            <a:endParaRPr lang="en-US" sz="1800" dirty="0"/>
          </a:p>
          <a:p>
            <a:pPr marL="342900" indent="-342900">
              <a:spcAft>
                <a:spcPts val="1200"/>
              </a:spcAft>
              <a:buSzPct val="100000"/>
              <a:buChar char="•"/>
            </a:pPr>
            <a:r>
              <a:rPr lang="en-US" sz="1800" dirty="0">
                <a:solidFill>
                  <a:schemeClr val="bg1"/>
                </a:solidFill>
              </a:rPr>
              <a:t>El diseño falla de forma segura: sin HTTPRoute todo vuelve a v1</a:t>
            </a:r>
            <a:endParaRPr lang="en-US" sz="1800" dirty="0"/>
          </a:p>
          <a:p>
            <a:pPr marL="342900" indent="-342900">
              <a:spcAft>
                <a:spcPts val="1200"/>
              </a:spcAft>
              <a:buSzPct val="100000"/>
              <a:buChar char="•"/>
            </a:pPr>
            <a:r>
              <a:rPr lang="en-US" sz="1800" dirty="0">
                <a:solidFill>
                  <a:schemeClr val="bg1"/>
                </a:solidFill>
              </a:rPr>
              <a:t>Linkerd da mTLS y métricas por ruta sin instrumentar la aplicación</a:t>
            </a:r>
            <a:endParaRPr lang="en-US" sz="1800" dirty="0"/>
          </a:p>
          <a:p>
            <a:pPr marL="342900" indent="-342900">
              <a:spcAft>
                <a:spcPts val="1200"/>
              </a:spcAft>
              <a:buSzPct val="100000"/>
              <a:buChar char="•"/>
            </a:pPr>
            <a:r>
              <a:rPr lang="en-US" sz="1800" dirty="0">
                <a:solidFill>
                  <a:schemeClr val="bg1"/>
                </a:solidFill>
              </a:rPr>
              <a:t>En Linkerd el ruteo vive en el proxy cliente: quien llama debe estar en la malla</a:t>
            </a:r>
            <a:endParaRPr lang="en-US" sz="1800" dirty="0"/>
          </a:p>
          <a:p>
            <a:pPr marL="342900" indent="-342900">
              <a:spcAft>
                <a:spcPts val="1200"/>
              </a:spcAft>
              <a:buSzPct val="100000"/>
              <a:buChar char="•"/>
            </a:pPr>
            <a:r>
              <a:rPr lang="en-US" sz="1800" dirty="0">
                <a:solidFill>
                  <a:schemeClr val="bg1"/>
                </a:solidFill>
              </a:rPr>
              <a:t>La misma ruta con pesos combina feature flags y canary con riesgo controlado</a:t>
            </a:r>
            <a:endParaRPr lang="en-US" sz="1800" dirty="0"/>
          </a:p>
        </p:txBody>
      </p:sp>
    </p:spTree>
  </p:cSld>
  <p:clrMapOvr>
    <a:masterClrMapping/>
  </p:clrMapOvr>
</p:sld>
</file>

<file path=ppt/theme/theme1.xml><?xml version="1.0" encoding="utf-8"?>
<a:theme xmlns:a="http://schemas.openxmlformats.org/drawingml/2006/main" name="Service Mesh Linkerd">
  <a:themeElements>
    <a:clrScheme name="Service Mesh Linkerd">
      <a:dk1>
        <a:srgbClr val="1F2A37"/>
      </a:dk1>
      <a:lt1>
        <a:srgbClr val="FFFFFF"/>
      </a:lt1>
      <a:dk2>
        <a:srgbClr val="2B3A4B"/>
      </a:dk2>
      <a:lt2>
        <a:srgbClr val="F3F5F8"/>
      </a:lt2>
      <a:accent1>
        <a:srgbClr val="0B8A8F"/>
      </a:accent1>
      <a:accent2>
        <a:srgbClr val="2563EB"/>
      </a:accent2>
      <a:accent3>
        <a:srgbClr val="F26B1D"/>
      </a:accent3>
      <a:accent4>
        <a:srgbClr val="7C3AED"/>
      </a:accent4>
      <a:accent5>
        <a:srgbClr val="326CE5"/>
      </a:accent5>
      <a:accent6>
        <a:srgbClr val="D4A72C"/>
      </a:accent6>
      <a:hlink>
        <a:srgbClr val="2563EB"/>
      </a:hlink>
      <a:folHlink>
        <a:srgbClr val="6B7280"/>
      </a:folHlink>
    </a:clrScheme>
    <a:fontScheme name="Service Mesh Linke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Enrutamiento inteligente con Service Mesh (Linkerd)</dc:title>
  <dc:subject>PptxGenJS Presentation</dc:subject>
  <dc:creator>PptxGenJS</dc:creator>
  <cp:lastModifiedBy>PptxGenJS</cp:lastModifiedBy>
  <cp:revision>1</cp:revision>
  <dcterms:created xsi:type="dcterms:W3CDTF">2026-10-30T00:01:53Z</dcterms:created>
  <dcterms:modified xsi:type="dcterms:W3CDTF">2026-10-30T00:01:53Z</dcterms:modified>
</cp:coreProperties>
</file>